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benchmark on this chart measures something real - code repair, reading a 10-K, writing an analyst note, following a support policy. But look at the pink band: fund-operations domain, controls and escalation, audit trail. It is empty for every benchmark except SASOB.
And even on analyst work, which is the closest neighbour, the best frontier agents still land around 53-61%. Analyst work isn't solved, and nobody is measuring the operational half of our business at all - getting the NAV right, knowing when to escalate a break, and leaving an audit trail a regulator will accept.
That's the gap SASOB fills: senior-level fund operations tasks, agentic, with deterministic scoring.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5486400" cy="274320"/>
          </a:xfrm>
          <a:prstGeom prst="rect">
            <a:avLst/>
          </a:prstGeom>
          <a:noFill/>
          <a:ln/>
        </p:spPr>
        <p:txBody>
          <a:bodyPr wrap="square" lIns="0" tIns="0" rIns="0" bIns="0" rtlCol="0" anchor="ctr"/>
          <a:lstStyle/>
          <a:p>
            <a:pPr indent="0" marL="0">
              <a:buNone/>
            </a:pPr>
            <a:r>
              <a:rPr lang="en-US" sz="1200" spc="400" kern="0" dirty="0">
                <a:solidFill>
                  <a:srgbClr val="5A6670"/>
                </a:solidFill>
                <a:latin typeface="Avenir Next LT Pro" pitchFamily="34" charset="0"/>
                <a:ea typeface="Avenir Next LT Pro" pitchFamily="34" charset="-122"/>
                <a:cs typeface="Avenir Next LT Pro" pitchFamily="34" charset="-120"/>
              </a:rPr>
              <a:t>THE NEED</a:t>
            </a:r>
            <a:endParaRPr lang="en-US" sz="1200" dirty="0"/>
          </a:p>
        </p:txBody>
      </p:sp>
      <p:sp>
        <p:nvSpPr>
          <p:cNvPr id="3" name="Text 1"/>
          <p:cNvSpPr txBox="1"/>
          <p:nvPr/>
        </p:nvSpPr>
        <p:spPr>
          <a:xfrm>
            <a:off x="685800" y="749808"/>
            <a:ext cx="10789920" cy="640080"/>
          </a:xfrm>
          <a:prstGeom prst="rect">
            <a:avLst/>
          </a:prstGeom>
          <a:noFill/>
          <a:ln/>
        </p:spPr>
        <p:txBody>
          <a:bodyPr wrap="square" lIns="0" tIns="0" rIns="0" bIns="0" rtlCol="0" anchor="ctr"/>
          <a:lstStyle/>
          <a:p>
            <a:pPr indent="0" marL="0">
              <a:buNone/>
            </a:pPr>
            <a:r>
              <a:rPr lang="en-US" sz="3400" dirty="0">
                <a:solidFill>
                  <a:srgbClr val="263746"/>
                </a:solidFill>
                <a:latin typeface="Avenir Next LT Pro" pitchFamily="34" charset="0"/>
                <a:ea typeface="Avenir Next LT Pro" pitchFamily="34" charset="-122"/>
                <a:cs typeface="Avenir Next LT Pro" pitchFamily="34" charset="-120"/>
              </a:rPr>
              <a:t>Every Finance Benchmark Stops Short of Operations</a:t>
            </a:r>
            <a:endParaRPr lang="en-US" sz="3400" dirty="0"/>
          </a:p>
        </p:txBody>
      </p:sp>
      <p:sp>
        <p:nvSpPr>
          <p:cNvPr id="4" name="Text 2"/>
          <p:cNvSpPr txBox="1"/>
          <p:nvPr/>
        </p:nvSpPr>
        <p:spPr>
          <a:xfrm>
            <a:off x="685800" y="1444752"/>
            <a:ext cx="10789920" cy="365760"/>
          </a:xfrm>
          <a:prstGeom prst="rect">
            <a:avLst/>
          </a:prstGeom>
          <a:noFill/>
          <a:ln/>
        </p:spPr>
        <p:txBody>
          <a:bodyPr wrap="square" lIns="0" tIns="0" rIns="0" bIns="0" rtlCol="0" anchor="ctr"/>
          <a:lstStyle/>
          <a:p>
            <a:pPr indent="0" marL="0">
              <a:buNone/>
            </a:pPr>
            <a:r>
              <a:rPr lang="en-US" sz="1600" b="1" dirty="0">
                <a:solidFill>
                  <a:srgbClr val="263746"/>
                </a:solidFill>
                <a:latin typeface="Avenir Next LT Pro" pitchFamily="34" charset="0"/>
                <a:ea typeface="Avenir Next LT Pro" pitchFamily="34" charset="-122"/>
                <a:cs typeface="Avenir Next LT Pro" pitchFamily="34" charset="-120"/>
              </a:rPr>
              <a:t>Coding has SWE-Bench. Analysts have Finance Agent. </a:t>
            </a:r>
            <a:pPr indent="0" marL="0">
              <a:buNone/>
            </a:pPr>
            <a:r>
              <a:rPr lang="en-US" sz="1600" b="1" dirty="0">
                <a:solidFill>
                  <a:srgbClr val="E8417D"/>
                </a:solidFill>
                <a:latin typeface="Avenir Next LT Pro" pitchFamily="34" charset="0"/>
                <a:ea typeface="Avenir Next LT Pro" pitchFamily="34" charset="-122"/>
                <a:cs typeface="Avenir Next LT Pro" pitchFamily="34" charset="-120"/>
              </a:rPr>
              <a:t>Fund operations has nothing.</a:t>
            </a:r>
            <a:endParaRPr lang="en-US" sz="1600" dirty="0"/>
          </a:p>
        </p:txBody>
      </p:sp>
      <p:sp>
        <p:nvSpPr>
          <p:cNvPr id="5" name="Gap band"/>
          <p:cNvSpPr/>
          <p:nvPr/>
        </p:nvSpPr>
        <p:spPr>
          <a:xfrm>
            <a:off x="4846320" y="2057400"/>
            <a:ext cx="2468880" cy="3575304"/>
          </a:xfrm>
          <a:prstGeom prst="rect">
            <a:avLst/>
          </a:prstGeom>
          <a:solidFill>
            <a:srgbClr val="FBE6EE"/>
          </a:solidFill>
          <a:ln w="12700">
            <a:solidFill>
              <a:srgbClr val="FBE6EE"/>
            </a:solidFill>
            <a:prstDash val="solid"/>
          </a:ln>
        </p:spPr>
      </p:sp>
      <p:sp>
        <p:nvSpPr>
          <p:cNvPr id="6" name="Text 4"/>
          <p:cNvSpPr txBox="1"/>
          <p:nvPr/>
        </p:nvSpPr>
        <p:spPr>
          <a:xfrm>
            <a:off x="3200400" y="2075688"/>
            <a:ext cx="822960" cy="466344"/>
          </a:xfrm>
          <a:prstGeom prst="rect">
            <a:avLst/>
          </a:prstGeom>
          <a:noFill/>
          <a:ln/>
        </p:spPr>
        <p:txBody>
          <a:bodyPr wrap="square" lIns="254" tIns="254" rIns="254" bIns="254" rtlCol="0" anchor="ctr"/>
          <a:lstStyle/>
          <a:p>
            <a:pPr algn="ctr" indent="0" marL="0">
              <a:buNone/>
            </a:pPr>
            <a:r>
              <a:rPr lang="en-US" sz="1000" b="1" dirty="0">
                <a:solidFill>
                  <a:srgbClr val="5A6670"/>
                </a:solidFill>
                <a:latin typeface="Avenir Next LT Pro" pitchFamily="34" charset="0"/>
                <a:ea typeface="Avenir Next LT Pro" pitchFamily="34" charset="-122"/>
                <a:cs typeface="Avenir Next LT Pro" pitchFamily="34" charset="-120"/>
              </a:rPr>
              <a:t>Agentic tool use</a:t>
            </a:r>
            <a:endParaRPr lang="en-US" sz="1000" dirty="0"/>
          </a:p>
        </p:txBody>
      </p:sp>
      <p:sp>
        <p:nvSpPr>
          <p:cNvPr id="7" name="Text 5"/>
          <p:cNvSpPr txBox="1"/>
          <p:nvPr/>
        </p:nvSpPr>
        <p:spPr>
          <a:xfrm>
            <a:off x="4023360" y="2075688"/>
            <a:ext cx="822960" cy="466344"/>
          </a:xfrm>
          <a:prstGeom prst="rect">
            <a:avLst/>
          </a:prstGeom>
          <a:noFill/>
          <a:ln/>
        </p:spPr>
        <p:txBody>
          <a:bodyPr wrap="square" lIns="254" tIns="254" rIns="254" bIns="254" rtlCol="0" anchor="ctr"/>
          <a:lstStyle/>
          <a:p>
            <a:pPr algn="ctr" indent="0" marL="0">
              <a:buNone/>
            </a:pPr>
            <a:r>
              <a:rPr lang="en-US" sz="1000" b="1" dirty="0">
                <a:solidFill>
                  <a:srgbClr val="5A6670"/>
                </a:solidFill>
                <a:latin typeface="Avenir Next LT Pro" pitchFamily="34" charset="0"/>
                <a:ea typeface="Avenir Next LT Pro" pitchFamily="34" charset="-122"/>
                <a:cs typeface="Avenir Next LT Pro" pitchFamily="34" charset="-120"/>
              </a:rPr>
              <a:t>Multi-step workflow</a:t>
            </a:r>
            <a:endParaRPr lang="en-US" sz="1000" dirty="0"/>
          </a:p>
        </p:txBody>
      </p:sp>
      <p:sp>
        <p:nvSpPr>
          <p:cNvPr id="8" name="Text 6"/>
          <p:cNvSpPr txBox="1"/>
          <p:nvPr/>
        </p:nvSpPr>
        <p:spPr>
          <a:xfrm>
            <a:off x="4846320" y="2075688"/>
            <a:ext cx="822960" cy="466344"/>
          </a:xfrm>
          <a:prstGeom prst="rect">
            <a:avLst/>
          </a:prstGeom>
          <a:noFill/>
          <a:ln/>
        </p:spPr>
        <p:txBody>
          <a:bodyPr wrap="square" lIns="254" tIns="254" rIns="254" bIns="254" rtlCol="0" anchor="ctr"/>
          <a:lstStyle/>
          <a:p>
            <a:pPr algn="ctr" indent="0" marL="0">
              <a:buNone/>
            </a:pPr>
            <a:r>
              <a:rPr lang="en-US" sz="1000" b="1" dirty="0">
                <a:solidFill>
                  <a:srgbClr val="C42A62"/>
                </a:solidFill>
                <a:latin typeface="Avenir Next LT Pro" pitchFamily="34" charset="0"/>
                <a:ea typeface="Avenir Next LT Pro" pitchFamily="34" charset="-122"/>
                <a:cs typeface="Avenir Next LT Pro" pitchFamily="34" charset="-120"/>
              </a:rPr>
              <a:t>Fund ops domain</a:t>
            </a:r>
            <a:endParaRPr lang="en-US" sz="1000" dirty="0"/>
          </a:p>
        </p:txBody>
      </p:sp>
      <p:sp>
        <p:nvSpPr>
          <p:cNvPr id="9" name="Text 7"/>
          <p:cNvSpPr txBox="1"/>
          <p:nvPr/>
        </p:nvSpPr>
        <p:spPr>
          <a:xfrm>
            <a:off x="5669280" y="2075688"/>
            <a:ext cx="822960" cy="466344"/>
          </a:xfrm>
          <a:prstGeom prst="rect">
            <a:avLst/>
          </a:prstGeom>
          <a:noFill/>
          <a:ln/>
        </p:spPr>
        <p:txBody>
          <a:bodyPr wrap="square" lIns="254" tIns="254" rIns="254" bIns="254" rtlCol="0" anchor="ctr"/>
          <a:lstStyle/>
          <a:p>
            <a:pPr algn="ctr" indent="0" marL="0">
              <a:buNone/>
            </a:pPr>
            <a:r>
              <a:rPr lang="en-US" sz="1000" b="1" dirty="0">
                <a:solidFill>
                  <a:srgbClr val="C42A62"/>
                </a:solidFill>
                <a:latin typeface="Avenir Next LT Pro" pitchFamily="34" charset="0"/>
                <a:ea typeface="Avenir Next LT Pro" pitchFamily="34" charset="-122"/>
                <a:cs typeface="Avenir Next LT Pro" pitchFamily="34" charset="-120"/>
              </a:rPr>
              <a:t>Controls &amp; escalation</a:t>
            </a:r>
            <a:endParaRPr lang="en-US" sz="1000" dirty="0"/>
          </a:p>
        </p:txBody>
      </p:sp>
      <p:sp>
        <p:nvSpPr>
          <p:cNvPr id="10" name="Text 8"/>
          <p:cNvSpPr txBox="1"/>
          <p:nvPr/>
        </p:nvSpPr>
        <p:spPr>
          <a:xfrm>
            <a:off x="6492240" y="2075688"/>
            <a:ext cx="822960" cy="466344"/>
          </a:xfrm>
          <a:prstGeom prst="rect">
            <a:avLst/>
          </a:prstGeom>
          <a:noFill/>
          <a:ln/>
        </p:spPr>
        <p:txBody>
          <a:bodyPr wrap="square" lIns="254" tIns="254" rIns="254" bIns="254" rtlCol="0" anchor="ctr"/>
          <a:lstStyle/>
          <a:p>
            <a:pPr algn="ctr" indent="0" marL="0">
              <a:buNone/>
            </a:pPr>
            <a:r>
              <a:rPr lang="en-US" sz="1000" b="1" dirty="0">
                <a:solidFill>
                  <a:srgbClr val="C42A62"/>
                </a:solidFill>
                <a:latin typeface="Avenir Next LT Pro" pitchFamily="34" charset="0"/>
                <a:ea typeface="Avenir Next LT Pro" pitchFamily="34" charset="-122"/>
                <a:cs typeface="Avenir Next LT Pro" pitchFamily="34" charset="-120"/>
              </a:rPr>
              <a:t>Audit trail</a:t>
            </a:r>
            <a:endParaRPr lang="en-US" sz="1000" dirty="0"/>
          </a:p>
        </p:txBody>
      </p:sp>
      <p:sp>
        <p:nvSpPr>
          <p:cNvPr id="11" name="Text 9"/>
          <p:cNvSpPr txBox="1"/>
          <p:nvPr/>
        </p:nvSpPr>
        <p:spPr>
          <a:xfrm>
            <a:off x="7315200" y="2075688"/>
            <a:ext cx="822960" cy="466344"/>
          </a:xfrm>
          <a:prstGeom prst="rect">
            <a:avLst/>
          </a:prstGeom>
          <a:noFill/>
          <a:ln/>
        </p:spPr>
        <p:txBody>
          <a:bodyPr wrap="square" lIns="254" tIns="254" rIns="254" bIns="254" rtlCol="0" anchor="ctr"/>
          <a:lstStyle/>
          <a:p>
            <a:pPr algn="ctr" indent="0" marL="0">
              <a:buNone/>
            </a:pPr>
            <a:r>
              <a:rPr lang="en-US" sz="1000" b="1" dirty="0">
                <a:solidFill>
                  <a:srgbClr val="5A6670"/>
                </a:solidFill>
                <a:latin typeface="Avenir Next LT Pro" pitchFamily="34" charset="0"/>
                <a:ea typeface="Avenir Next LT Pro" pitchFamily="34" charset="-122"/>
                <a:cs typeface="Avenir Next LT Pro" pitchFamily="34" charset="-120"/>
              </a:rPr>
              <a:t>Verifiable scoring</a:t>
            </a:r>
            <a:endParaRPr lang="en-US" sz="1000" dirty="0"/>
          </a:p>
        </p:txBody>
      </p:sp>
      <p:sp>
        <p:nvSpPr>
          <p:cNvPr id="12" name="Text 10"/>
          <p:cNvSpPr txBox="1"/>
          <p:nvPr/>
        </p:nvSpPr>
        <p:spPr>
          <a:xfrm>
            <a:off x="777240" y="2587752"/>
            <a:ext cx="2423160" cy="384048"/>
          </a:xfrm>
          <a:prstGeom prst="rect">
            <a:avLst/>
          </a:prstGeom>
          <a:noFill/>
          <a:ln/>
        </p:spPr>
        <p:txBody>
          <a:bodyPr wrap="square" lIns="0" tIns="0" rIns="0" bIns="0" rtlCol="0" anchor="ctr"/>
          <a:lstStyle/>
          <a:p>
            <a:pPr indent="0" marL="0">
              <a:buNone/>
            </a:pPr>
            <a:r>
              <a:rPr lang="en-US" sz="1200" b="1" dirty="0">
                <a:solidFill>
                  <a:srgbClr val="263746"/>
                </a:solidFill>
                <a:latin typeface="Avenir Next LT Pro" pitchFamily="34" charset="0"/>
                <a:ea typeface="Avenir Next LT Pro" pitchFamily="34" charset="-122"/>
                <a:cs typeface="Avenir Next LT Pro" pitchFamily="34" charset="-120"/>
              </a:rPr>
              <a:t>SWE-Bench</a:t>
            </a:r>
            <a:endParaRPr lang="en-US" sz="1200" dirty="0"/>
          </a:p>
          <a:p>
            <a:pPr indent="0" marL="0">
              <a:buNone/>
            </a:pPr>
            <a:r>
              <a:rPr lang="en-US" sz="900" dirty="0">
                <a:solidFill>
                  <a:srgbClr val="5A6670"/>
                </a:solidFill>
                <a:latin typeface="Avenir Next LT Pro" pitchFamily="34" charset="0"/>
                <a:ea typeface="Avenir Next LT Pro" pitchFamily="34" charset="-122"/>
                <a:cs typeface="Avenir Next LT Pro" pitchFamily="34" charset="-120"/>
              </a:rPr>
              <a:t>Software issue repair</a:t>
            </a:r>
            <a:endParaRPr lang="en-US" sz="1200" dirty="0"/>
          </a:p>
        </p:txBody>
      </p:sp>
      <p:sp>
        <p:nvSpPr>
          <p:cNvPr id="13" name="Shape 11"/>
          <p:cNvSpPr/>
          <p:nvPr/>
        </p:nvSpPr>
        <p:spPr>
          <a:xfrm>
            <a:off x="3520440" y="2688336"/>
            <a:ext cx="182880" cy="182880"/>
          </a:xfrm>
          <a:prstGeom prst="ellipse">
            <a:avLst/>
          </a:prstGeom>
          <a:solidFill>
            <a:srgbClr val="13294B"/>
          </a:solidFill>
          <a:ln w="12700">
            <a:solidFill>
              <a:srgbClr val="13294B"/>
            </a:solidFill>
            <a:prstDash val="solid"/>
          </a:ln>
        </p:spPr>
      </p:sp>
      <p:sp>
        <p:nvSpPr>
          <p:cNvPr id="14" name="Shape 12"/>
          <p:cNvSpPr/>
          <p:nvPr/>
        </p:nvSpPr>
        <p:spPr>
          <a:xfrm>
            <a:off x="4343400" y="2688336"/>
            <a:ext cx="182880" cy="182880"/>
          </a:xfrm>
          <a:prstGeom prst="ellipse">
            <a:avLst/>
          </a:prstGeom>
          <a:solidFill>
            <a:srgbClr val="13294B"/>
          </a:solidFill>
          <a:ln w="12700">
            <a:solidFill>
              <a:srgbClr val="13294B"/>
            </a:solidFill>
            <a:prstDash val="solid"/>
          </a:ln>
        </p:spPr>
      </p:sp>
      <p:sp>
        <p:nvSpPr>
          <p:cNvPr id="15" name="Shape 13"/>
          <p:cNvSpPr/>
          <p:nvPr/>
        </p:nvSpPr>
        <p:spPr>
          <a:xfrm>
            <a:off x="5166360" y="2688336"/>
            <a:ext cx="182880" cy="182880"/>
          </a:xfrm>
          <a:prstGeom prst="ellipse">
            <a:avLst/>
          </a:prstGeom>
          <a:solidFill>
            <a:srgbClr val="FFFFFF"/>
          </a:solidFill>
          <a:ln w="15875">
            <a:solidFill>
              <a:srgbClr val="C9CED6"/>
            </a:solidFill>
            <a:prstDash val="solid"/>
          </a:ln>
        </p:spPr>
      </p:sp>
      <p:sp>
        <p:nvSpPr>
          <p:cNvPr id="16" name="Shape 14"/>
          <p:cNvSpPr/>
          <p:nvPr/>
        </p:nvSpPr>
        <p:spPr>
          <a:xfrm>
            <a:off x="5989320" y="2688336"/>
            <a:ext cx="182880" cy="182880"/>
          </a:xfrm>
          <a:prstGeom prst="ellipse">
            <a:avLst/>
          </a:prstGeom>
          <a:solidFill>
            <a:srgbClr val="FFFFFF"/>
          </a:solidFill>
          <a:ln w="15875">
            <a:solidFill>
              <a:srgbClr val="C9CED6"/>
            </a:solidFill>
            <a:prstDash val="solid"/>
          </a:ln>
        </p:spPr>
      </p:sp>
      <p:sp>
        <p:nvSpPr>
          <p:cNvPr id="17" name="Shape 15"/>
          <p:cNvSpPr/>
          <p:nvPr/>
        </p:nvSpPr>
        <p:spPr>
          <a:xfrm>
            <a:off x="6812280" y="2688336"/>
            <a:ext cx="182880" cy="182880"/>
          </a:xfrm>
          <a:prstGeom prst="ellipse">
            <a:avLst/>
          </a:prstGeom>
          <a:solidFill>
            <a:srgbClr val="FFFFFF"/>
          </a:solidFill>
          <a:ln w="15875">
            <a:solidFill>
              <a:srgbClr val="C9CED6"/>
            </a:solidFill>
            <a:prstDash val="solid"/>
          </a:ln>
        </p:spPr>
      </p:sp>
      <p:sp>
        <p:nvSpPr>
          <p:cNvPr id="18" name="Shape 16"/>
          <p:cNvSpPr/>
          <p:nvPr/>
        </p:nvSpPr>
        <p:spPr>
          <a:xfrm>
            <a:off x="7635240" y="2688336"/>
            <a:ext cx="182880" cy="182880"/>
          </a:xfrm>
          <a:prstGeom prst="ellipse">
            <a:avLst/>
          </a:prstGeom>
          <a:solidFill>
            <a:srgbClr val="13294B"/>
          </a:solidFill>
          <a:ln w="12700">
            <a:solidFill>
              <a:srgbClr val="13294B"/>
            </a:solidFill>
            <a:prstDash val="solid"/>
          </a:ln>
        </p:spPr>
      </p:sp>
      <p:sp>
        <p:nvSpPr>
          <p:cNvPr id="19" name="Shape 17"/>
          <p:cNvSpPr/>
          <p:nvPr/>
        </p:nvSpPr>
        <p:spPr>
          <a:xfrm>
            <a:off x="685800" y="2944368"/>
            <a:ext cx="7452360" cy="0"/>
          </a:xfrm>
          <a:prstGeom prst="line">
            <a:avLst/>
          </a:prstGeom>
          <a:noFill/>
          <a:ln w="9525">
            <a:solidFill>
              <a:srgbClr val="E3E6EA"/>
            </a:solidFill>
            <a:prstDash val="solid"/>
          </a:ln>
        </p:spPr>
      </p:sp>
      <p:sp>
        <p:nvSpPr>
          <p:cNvPr id="20" name="Text 18"/>
          <p:cNvSpPr txBox="1"/>
          <p:nvPr/>
        </p:nvSpPr>
        <p:spPr>
          <a:xfrm>
            <a:off x="777240" y="2971800"/>
            <a:ext cx="2423160" cy="384048"/>
          </a:xfrm>
          <a:prstGeom prst="rect">
            <a:avLst/>
          </a:prstGeom>
          <a:noFill/>
          <a:ln/>
        </p:spPr>
        <p:txBody>
          <a:bodyPr wrap="square" lIns="0" tIns="0" rIns="0" bIns="0" rtlCol="0" anchor="ctr"/>
          <a:lstStyle/>
          <a:p>
            <a:pPr indent="0" marL="0">
              <a:buNone/>
            </a:pPr>
            <a:r>
              <a:rPr lang="en-US" sz="1200" b="1" dirty="0">
                <a:solidFill>
                  <a:srgbClr val="263746"/>
                </a:solidFill>
                <a:latin typeface="Avenir Next LT Pro" pitchFamily="34" charset="0"/>
                <a:ea typeface="Avenir Next LT Pro" pitchFamily="34" charset="-122"/>
                <a:cs typeface="Avenir Next LT Pro" pitchFamily="34" charset="-120"/>
              </a:rPr>
              <a:t>FinQA · TAT-QA</a:t>
            </a:r>
            <a:endParaRPr lang="en-US" sz="1200" dirty="0"/>
          </a:p>
          <a:p>
            <a:pPr indent="0" marL="0">
              <a:buNone/>
            </a:pPr>
            <a:r>
              <a:rPr lang="en-US" sz="900" dirty="0">
                <a:solidFill>
                  <a:srgbClr val="5A6670"/>
                </a:solidFill>
                <a:latin typeface="Avenir Next LT Pro" pitchFamily="34" charset="0"/>
                <a:ea typeface="Avenir Next LT Pro" pitchFamily="34" charset="-122"/>
                <a:cs typeface="Avenir Next LT Pro" pitchFamily="34" charset="-120"/>
              </a:rPr>
              <a:t>Numeric QA on reports</a:t>
            </a:r>
            <a:endParaRPr lang="en-US" sz="1200" dirty="0"/>
          </a:p>
        </p:txBody>
      </p:sp>
      <p:sp>
        <p:nvSpPr>
          <p:cNvPr id="21" name="Shape 19"/>
          <p:cNvSpPr/>
          <p:nvPr/>
        </p:nvSpPr>
        <p:spPr>
          <a:xfrm>
            <a:off x="3520440" y="3072384"/>
            <a:ext cx="182880" cy="182880"/>
          </a:xfrm>
          <a:prstGeom prst="ellipse">
            <a:avLst/>
          </a:prstGeom>
          <a:solidFill>
            <a:srgbClr val="FFFFFF"/>
          </a:solidFill>
          <a:ln w="15875">
            <a:solidFill>
              <a:srgbClr val="C9CED6"/>
            </a:solidFill>
            <a:prstDash val="solid"/>
          </a:ln>
        </p:spPr>
      </p:sp>
      <p:sp>
        <p:nvSpPr>
          <p:cNvPr id="22" name="Shape 20"/>
          <p:cNvSpPr/>
          <p:nvPr/>
        </p:nvSpPr>
        <p:spPr>
          <a:xfrm>
            <a:off x="4343400" y="3072384"/>
            <a:ext cx="182880" cy="182880"/>
          </a:xfrm>
          <a:prstGeom prst="ellipse">
            <a:avLst/>
          </a:prstGeom>
          <a:solidFill>
            <a:srgbClr val="A9DCE0"/>
          </a:solidFill>
          <a:ln w="12700">
            <a:solidFill>
              <a:srgbClr val="13294B"/>
            </a:solidFill>
            <a:prstDash val="solid"/>
          </a:ln>
        </p:spPr>
      </p:sp>
      <p:sp>
        <p:nvSpPr>
          <p:cNvPr id="23" name="Shape 21"/>
          <p:cNvSpPr/>
          <p:nvPr/>
        </p:nvSpPr>
        <p:spPr>
          <a:xfrm>
            <a:off x="5166360" y="3072384"/>
            <a:ext cx="182880" cy="182880"/>
          </a:xfrm>
          <a:prstGeom prst="ellipse">
            <a:avLst/>
          </a:prstGeom>
          <a:solidFill>
            <a:srgbClr val="FFFFFF"/>
          </a:solidFill>
          <a:ln w="15875">
            <a:solidFill>
              <a:srgbClr val="C9CED6"/>
            </a:solidFill>
            <a:prstDash val="solid"/>
          </a:ln>
        </p:spPr>
      </p:sp>
      <p:sp>
        <p:nvSpPr>
          <p:cNvPr id="24" name="Shape 22"/>
          <p:cNvSpPr/>
          <p:nvPr/>
        </p:nvSpPr>
        <p:spPr>
          <a:xfrm>
            <a:off x="5989320" y="3072384"/>
            <a:ext cx="182880" cy="182880"/>
          </a:xfrm>
          <a:prstGeom prst="ellipse">
            <a:avLst/>
          </a:prstGeom>
          <a:solidFill>
            <a:srgbClr val="FFFFFF"/>
          </a:solidFill>
          <a:ln w="15875">
            <a:solidFill>
              <a:srgbClr val="C9CED6"/>
            </a:solidFill>
            <a:prstDash val="solid"/>
          </a:ln>
        </p:spPr>
      </p:sp>
      <p:sp>
        <p:nvSpPr>
          <p:cNvPr id="25" name="Shape 23"/>
          <p:cNvSpPr/>
          <p:nvPr/>
        </p:nvSpPr>
        <p:spPr>
          <a:xfrm>
            <a:off x="6812280" y="3072384"/>
            <a:ext cx="182880" cy="182880"/>
          </a:xfrm>
          <a:prstGeom prst="ellipse">
            <a:avLst/>
          </a:prstGeom>
          <a:solidFill>
            <a:srgbClr val="FFFFFF"/>
          </a:solidFill>
          <a:ln w="15875">
            <a:solidFill>
              <a:srgbClr val="C9CED6"/>
            </a:solidFill>
            <a:prstDash val="solid"/>
          </a:ln>
        </p:spPr>
      </p:sp>
      <p:sp>
        <p:nvSpPr>
          <p:cNvPr id="26" name="Shape 24"/>
          <p:cNvSpPr/>
          <p:nvPr/>
        </p:nvSpPr>
        <p:spPr>
          <a:xfrm>
            <a:off x="7635240" y="3072384"/>
            <a:ext cx="182880" cy="182880"/>
          </a:xfrm>
          <a:prstGeom prst="ellipse">
            <a:avLst/>
          </a:prstGeom>
          <a:solidFill>
            <a:srgbClr val="13294B"/>
          </a:solidFill>
          <a:ln w="12700">
            <a:solidFill>
              <a:srgbClr val="13294B"/>
            </a:solidFill>
            <a:prstDash val="solid"/>
          </a:ln>
        </p:spPr>
      </p:sp>
      <p:sp>
        <p:nvSpPr>
          <p:cNvPr id="27" name="Shape 25"/>
          <p:cNvSpPr/>
          <p:nvPr/>
        </p:nvSpPr>
        <p:spPr>
          <a:xfrm>
            <a:off x="685800" y="3328416"/>
            <a:ext cx="7452360" cy="0"/>
          </a:xfrm>
          <a:prstGeom prst="line">
            <a:avLst/>
          </a:prstGeom>
          <a:noFill/>
          <a:ln w="9525">
            <a:solidFill>
              <a:srgbClr val="E3E6EA"/>
            </a:solidFill>
            <a:prstDash val="solid"/>
          </a:ln>
        </p:spPr>
      </p:sp>
      <p:sp>
        <p:nvSpPr>
          <p:cNvPr id="28" name="Text 26"/>
          <p:cNvSpPr txBox="1"/>
          <p:nvPr/>
        </p:nvSpPr>
        <p:spPr>
          <a:xfrm>
            <a:off x="777240" y="3355848"/>
            <a:ext cx="2423160" cy="384048"/>
          </a:xfrm>
          <a:prstGeom prst="rect">
            <a:avLst/>
          </a:prstGeom>
          <a:noFill/>
          <a:ln/>
        </p:spPr>
        <p:txBody>
          <a:bodyPr wrap="square" lIns="0" tIns="0" rIns="0" bIns="0" rtlCol="0" anchor="ctr"/>
          <a:lstStyle/>
          <a:p>
            <a:pPr indent="0" marL="0">
              <a:buNone/>
            </a:pPr>
            <a:r>
              <a:rPr lang="en-US" sz="1200" b="1" dirty="0">
                <a:solidFill>
                  <a:srgbClr val="263746"/>
                </a:solidFill>
                <a:latin typeface="Avenir Next LT Pro" pitchFamily="34" charset="0"/>
                <a:ea typeface="Avenir Next LT Pro" pitchFamily="34" charset="-122"/>
                <a:cs typeface="Avenir Next LT Pro" pitchFamily="34" charset="-120"/>
              </a:rPr>
              <a:t>FinanceBench</a:t>
            </a:r>
            <a:endParaRPr lang="en-US" sz="1200" dirty="0"/>
          </a:p>
          <a:p>
            <a:pPr indent="0" marL="0">
              <a:buNone/>
            </a:pPr>
            <a:r>
              <a:rPr lang="en-US" sz="900" dirty="0">
                <a:solidFill>
                  <a:srgbClr val="5A6670"/>
                </a:solidFill>
                <a:latin typeface="Avenir Next LT Pro" pitchFamily="34" charset="0"/>
                <a:ea typeface="Avenir Next LT Pro" pitchFamily="34" charset="-122"/>
                <a:cs typeface="Avenir Next LT Pro" pitchFamily="34" charset="-120"/>
              </a:rPr>
              <a:t>10-K question answering</a:t>
            </a:r>
            <a:endParaRPr lang="en-US" sz="1200" dirty="0"/>
          </a:p>
        </p:txBody>
      </p:sp>
      <p:sp>
        <p:nvSpPr>
          <p:cNvPr id="29" name="Shape 27"/>
          <p:cNvSpPr/>
          <p:nvPr/>
        </p:nvSpPr>
        <p:spPr>
          <a:xfrm>
            <a:off x="3520440" y="3456432"/>
            <a:ext cx="182880" cy="182880"/>
          </a:xfrm>
          <a:prstGeom prst="ellipse">
            <a:avLst/>
          </a:prstGeom>
          <a:solidFill>
            <a:srgbClr val="FFFFFF"/>
          </a:solidFill>
          <a:ln w="15875">
            <a:solidFill>
              <a:srgbClr val="C9CED6"/>
            </a:solidFill>
            <a:prstDash val="solid"/>
          </a:ln>
        </p:spPr>
      </p:sp>
      <p:sp>
        <p:nvSpPr>
          <p:cNvPr id="30" name="Shape 28"/>
          <p:cNvSpPr/>
          <p:nvPr/>
        </p:nvSpPr>
        <p:spPr>
          <a:xfrm>
            <a:off x="4343400" y="3456432"/>
            <a:ext cx="182880" cy="182880"/>
          </a:xfrm>
          <a:prstGeom prst="ellipse">
            <a:avLst/>
          </a:prstGeom>
          <a:solidFill>
            <a:srgbClr val="FFFFFF"/>
          </a:solidFill>
          <a:ln w="15875">
            <a:solidFill>
              <a:srgbClr val="C9CED6"/>
            </a:solidFill>
            <a:prstDash val="solid"/>
          </a:ln>
        </p:spPr>
      </p:sp>
      <p:sp>
        <p:nvSpPr>
          <p:cNvPr id="31" name="Shape 29"/>
          <p:cNvSpPr/>
          <p:nvPr/>
        </p:nvSpPr>
        <p:spPr>
          <a:xfrm>
            <a:off x="5166360" y="3456432"/>
            <a:ext cx="182880" cy="182880"/>
          </a:xfrm>
          <a:prstGeom prst="ellipse">
            <a:avLst/>
          </a:prstGeom>
          <a:solidFill>
            <a:srgbClr val="FFFFFF"/>
          </a:solidFill>
          <a:ln w="15875">
            <a:solidFill>
              <a:srgbClr val="C9CED6"/>
            </a:solidFill>
            <a:prstDash val="solid"/>
          </a:ln>
        </p:spPr>
      </p:sp>
      <p:sp>
        <p:nvSpPr>
          <p:cNvPr id="32" name="Shape 30"/>
          <p:cNvSpPr/>
          <p:nvPr/>
        </p:nvSpPr>
        <p:spPr>
          <a:xfrm>
            <a:off x="5989320" y="3456432"/>
            <a:ext cx="182880" cy="182880"/>
          </a:xfrm>
          <a:prstGeom prst="ellipse">
            <a:avLst/>
          </a:prstGeom>
          <a:solidFill>
            <a:srgbClr val="FFFFFF"/>
          </a:solidFill>
          <a:ln w="15875">
            <a:solidFill>
              <a:srgbClr val="C9CED6"/>
            </a:solidFill>
            <a:prstDash val="solid"/>
          </a:ln>
        </p:spPr>
      </p:sp>
      <p:sp>
        <p:nvSpPr>
          <p:cNvPr id="33" name="Shape 31"/>
          <p:cNvSpPr/>
          <p:nvPr/>
        </p:nvSpPr>
        <p:spPr>
          <a:xfrm>
            <a:off x="6812280" y="3456432"/>
            <a:ext cx="182880" cy="182880"/>
          </a:xfrm>
          <a:prstGeom prst="ellipse">
            <a:avLst/>
          </a:prstGeom>
          <a:solidFill>
            <a:srgbClr val="FFFFFF"/>
          </a:solidFill>
          <a:ln w="15875">
            <a:solidFill>
              <a:srgbClr val="C9CED6"/>
            </a:solidFill>
            <a:prstDash val="solid"/>
          </a:ln>
        </p:spPr>
      </p:sp>
      <p:sp>
        <p:nvSpPr>
          <p:cNvPr id="34" name="Shape 32"/>
          <p:cNvSpPr/>
          <p:nvPr/>
        </p:nvSpPr>
        <p:spPr>
          <a:xfrm>
            <a:off x="7635240" y="3456432"/>
            <a:ext cx="182880" cy="182880"/>
          </a:xfrm>
          <a:prstGeom prst="ellipse">
            <a:avLst/>
          </a:prstGeom>
          <a:solidFill>
            <a:srgbClr val="A9DCE0"/>
          </a:solidFill>
          <a:ln w="12700">
            <a:solidFill>
              <a:srgbClr val="13294B"/>
            </a:solidFill>
            <a:prstDash val="solid"/>
          </a:ln>
        </p:spPr>
      </p:sp>
      <p:sp>
        <p:nvSpPr>
          <p:cNvPr id="35" name="Shape 33"/>
          <p:cNvSpPr/>
          <p:nvPr/>
        </p:nvSpPr>
        <p:spPr>
          <a:xfrm>
            <a:off x="685800" y="3712464"/>
            <a:ext cx="7452360" cy="0"/>
          </a:xfrm>
          <a:prstGeom prst="line">
            <a:avLst/>
          </a:prstGeom>
          <a:noFill/>
          <a:ln w="9525">
            <a:solidFill>
              <a:srgbClr val="E3E6EA"/>
            </a:solidFill>
            <a:prstDash val="solid"/>
          </a:ln>
        </p:spPr>
      </p:sp>
      <p:sp>
        <p:nvSpPr>
          <p:cNvPr id="36" name="Text 34"/>
          <p:cNvSpPr txBox="1"/>
          <p:nvPr/>
        </p:nvSpPr>
        <p:spPr>
          <a:xfrm>
            <a:off x="777240" y="3739896"/>
            <a:ext cx="2423160" cy="384048"/>
          </a:xfrm>
          <a:prstGeom prst="rect">
            <a:avLst/>
          </a:prstGeom>
          <a:noFill/>
          <a:ln/>
        </p:spPr>
        <p:txBody>
          <a:bodyPr wrap="square" lIns="0" tIns="0" rIns="0" bIns="0" rtlCol="0" anchor="ctr"/>
          <a:lstStyle/>
          <a:p>
            <a:pPr indent="0" marL="0">
              <a:buNone/>
            </a:pPr>
            <a:r>
              <a:rPr lang="en-US" sz="1200" b="1" dirty="0">
                <a:solidFill>
                  <a:srgbClr val="263746"/>
                </a:solidFill>
                <a:latin typeface="Avenir Next LT Pro" pitchFamily="34" charset="0"/>
                <a:ea typeface="Avenir Next LT Pro" pitchFamily="34" charset="-122"/>
                <a:cs typeface="Avenir Next LT Pro" pitchFamily="34" charset="-120"/>
              </a:rPr>
              <a:t>FinBen</a:t>
            </a:r>
            <a:endParaRPr lang="en-US" sz="1200" dirty="0"/>
          </a:p>
          <a:p>
            <a:pPr indent="0" marL="0">
              <a:buNone/>
            </a:pPr>
            <a:r>
              <a:rPr lang="en-US" sz="900" dirty="0">
                <a:solidFill>
                  <a:srgbClr val="5A6670"/>
                </a:solidFill>
                <a:latin typeface="Avenir Next LT Pro" pitchFamily="34" charset="0"/>
                <a:ea typeface="Avenir Next LT Pro" pitchFamily="34" charset="-122"/>
                <a:cs typeface="Avenir Next LT Pro" pitchFamily="34" charset="-120"/>
              </a:rPr>
              <a:t>42 datasets, 24 finance tasks</a:t>
            </a:r>
            <a:endParaRPr lang="en-US" sz="1200" dirty="0"/>
          </a:p>
        </p:txBody>
      </p:sp>
      <p:sp>
        <p:nvSpPr>
          <p:cNvPr id="37" name="Shape 35"/>
          <p:cNvSpPr/>
          <p:nvPr/>
        </p:nvSpPr>
        <p:spPr>
          <a:xfrm>
            <a:off x="3520440" y="3840480"/>
            <a:ext cx="182880" cy="182880"/>
          </a:xfrm>
          <a:prstGeom prst="ellipse">
            <a:avLst/>
          </a:prstGeom>
          <a:solidFill>
            <a:srgbClr val="A9DCE0"/>
          </a:solidFill>
          <a:ln w="12700">
            <a:solidFill>
              <a:srgbClr val="13294B"/>
            </a:solidFill>
            <a:prstDash val="solid"/>
          </a:ln>
        </p:spPr>
      </p:sp>
      <p:sp>
        <p:nvSpPr>
          <p:cNvPr id="38" name="Shape 36"/>
          <p:cNvSpPr/>
          <p:nvPr/>
        </p:nvSpPr>
        <p:spPr>
          <a:xfrm>
            <a:off x="4343400" y="3840480"/>
            <a:ext cx="182880" cy="182880"/>
          </a:xfrm>
          <a:prstGeom prst="ellipse">
            <a:avLst/>
          </a:prstGeom>
          <a:solidFill>
            <a:srgbClr val="A9DCE0"/>
          </a:solidFill>
          <a:ln w="12700">
            <a:solidFill>
              <a:srgbClr val="13294B"/>
            </a:solidFill>
            <a:prstDash val="solid"/>
          </a:ln>
        </p:spPr>
      </p:sp>
      <p:sp>
        <p:nvSpPr>
          <p:cNvPr id="39" name="Shape 37"/>
          <p:cNvSpPr/>
          <p:nvPr/>
        </p:nvSpPr>
        <p:spPr>
          <a:xfrm>
            <a:off x="5166360" y="3840480"/>
            <a:ext cx="182880" cy="182880"/>
          </a:xfrm>
          <a:prstGeom prst="ellipse">
            <a:avLst/>
          </a:prstGeom>
          <a:solidFill>
            <a:srgbClr val="FFFFFF"/>
          </a:solidFill>
          <a:ln w="15875">
            <a:solidFill>
              <a:srgbClr val="C9CED6"/>
            </a:solidFill>
            <a:prstDash val="solid"/>
          </a:ln>
        </p:spPr>
      </p:sp>
      <p:sp>
        <p:nvSpPr>
          <p:cNvPr id="40" name="Shape 38"/>
          <p:cNvSpPr/>
          <p:nvPr/>
        </p:nvSpPr>
        <p:spPr>
          <a:xfrm>
            <a:off x="5989320" y="3840480"/>
            <a:ext cx="182880" cy="182880"/>
          </a:xfrm>
          <a:prstGeom prst="ellipse">
            <a:avLst/>
          </a:prstGeom>
          <a:solidFill>
            <a:srgbClr val="FFFFFF"/>
          </a:solidFill>
          <a:ln w="15875">
            <a:solidFill>
              <a:srgbClr val="C9CED6"/>
            </a:solidFill>
            <a:prstDash val="solid"/>
          </a:ln>
        </p:spPr>
      </p:sp>
      <p:sp>
        <p:nvSpPr>
          <p:cNvPr id="41" name="Shape 39"/>
          <p:cNvSpPr/>
          <p:nvPr/>
        </p:nvSpPr>
        <p:spPr>
          <a:xfrm>
            <a:off x="6812280" y="3840480"/>
            <a:ext cx="182880" cy="182880"/>
          </a:xfrm>
          <a:prstGeom prst="ellipse">
            <a:avLst/>
          </a:prstGeom>
          <a:solidFill>
            <a:srgbClr val="FFFFFF"/>
          </a:solidFill>
          <a:ln w="15875">
            <a:solidFill>
              <a:srgbClr val="C9CED6"/>
            </a:solidFill>
            <a:prstDash val="solid"/>
          </a:ln>
        </p:spPr>
      </p:sp>
      <p:sp>
        <p:nvSpPr>
          <p:cNvPr id="42" name="Shape 40"/>
          <p:cNvSpPr/>
          <p:nvPr/>
        </p:nvSpPr>
        <p:spPr>
          <a:xfrm>
            <a:off x="7635240" y="3840480"/>
            <a:ext cx="182880" cy="182880"/>
          </a:xfrm>
          <a:prstGeom prst="ellipse">
            <a:avLst/>
          </a:prstGeom>
          <a:solidFill>
            <a:srgbClr val="A9DCE0"/>
          </a:solidFill>
          <a:ln w="12700">
            <a:solidFill>
              <a:srgbClr val="13294B"/>
            </a:solidFill>
            <a:prstDash val="solid"/>
          </a:ln>
        </p:spPr>
      </p:sp>
      <p:sp>
        <p:nvSpPr>
          <p:cNvPr id="43" name="Shape 41"/>
          <p:cNvSpPr/>
          <p:nvPr/>
        </p:nvSpPr>
        <p:spPr>
          <a:xfrm>
            <a:off x="685800" y="4096512"/>
            <a:ext cx="7452360" cy="0"/>
          </a:xfrm>
          <a:prstGeom prst="line">
            <a:avLst/>
          </a:prstGeom>
          <a:noFill/>
          <a:ln w="9525">
            <a:solidFill>
              <a:srgbClr val="E3E6EA"/>
            </a:solidFill>
            <a:prstDash val="solid"/>
          </a:ln>
        </p:spPr>
      </p:sp>
      <p:sp>
        <p:nvSpPr>
          <p:cNvPr id="44" name="Text 42"/>
          <p:cNvSpPr txBox="1"/>
          <p:nvPr/>
        </p:nvSpPr>
        <p:spPr>
          <a:xfrm>
            <a:off x="777240" y="4123944"/>
            <a:ext cx="2423160" cy="384048"/>
          </a:xfrm>
          <a:prstGeom prst="rect">
            <a:avLst/>
          </a:prstGeom>
          <a:noFill/>
          <a:ln/>
        </p:spPr>
        <p:txBody>
          <a:bodyPr wrap="square" lIns="0" tIns="0" rIns="0" bIns="0" rtlCol="0" anchor="ctr"/>
          <a:lstStyle/>
          <a:p>
            <a:pPr indent="0" marL="0">
              <a:buNone/>
            </a:pPr>
            <a:r>
              <a:rPr lang="en-US" sz="1200" b="1" dirty="0">
                <a:solidFill>
                  <a:srgbClr val="263746"/>
                </a:solidFill>
                <a:latin typeface="Avenir Next LT Pro" pitchFamily="34" charset="0"/>
                <a:ea typeface="Avenir Next LT Pro" pitchFamily="34" charset="-122"/>
                <a:cs typeface="Avenir Next LT Pro" pitchFamily="34" charset="-120"/>
              </a:rPr>
              <a:t>τ²-bench</a:t>
            </a:r>
            <a:endParaRPr lang="en-US" sz="1200" dirty="0"/>
          </a:p>
          <a:p>
            <a:pPr indent="0" marL="0">
              <a:buNone/>
            </a:pPr>
            <a:r>
              <a:rPr lang="en-US" sz="900" dirty="0">
                <a:solidFill>
                  <a:srgbClr val="5A6670"/>
                </a:solidFill>
                <a:latin typeface="Avenir Next LT Pro" pitchFamily="34" charset="0"/>
                <a:ea typeface="Avenir Next LT Pro" pitchFamily="34" charset="-122"/>
                <a:cs typeface="Avenir Next LT Pro" pitchFamily="34" charset="-120"/>
              </a:rPr>
              <a:t>Policy-bound service agents</a:t>
            </a:r>
            <a:endParaRPr lang="en-US" sz="1200" dirty="0"/>
          </a:p>
        </p:txBody>
      </p:sp>
      <p:sp>
        <p:nvSpPr>
          <p:cNvPr id="45" name="Shape 43"/>
          <p:cNvSpPr/>
          <p:nvPr/>
        </p:nvSpPr>
        <p:spPr>
          <a:xfrm>
            <a:off x="3520440" y="4224528"/>
            <a:ext cx="182880" cy="182880"/>
          </a:xfrm>
          <a:prstGeom prst="ellipse">
            <a:avLst/>
          </a:prstGeom>
          <a:solidFill>
            <a:srgbClr val="13294B"/>
          </a:solidFill>
          <a:ln w="12700">
            <a:solidFill>
              <a:srgbClr val="13294B"/>
            </a:solidFill>
            <a:prstDash val="solid"/>
          </a:ln>
        </p:spPr>
      </p:sp>
      <p:sp>
        <p:nvSpPr>
          <p:cNvPr id="46" name="Shape 44"/>
          <p:cNvSpPr/>
          <p:nvPr/>
        </p:nvSpPr>
        <p:spPr>
          <a:xfrm>
            <a:off x="4343400" y="4224528"/>
            <a:ext cx="182880" cy="182880"/>
          </a:xfrm>
          <a:prstGeom prst="ellipse">
            <a:avLst/>
          </a:prstGeom>
          <a:solidFill>
            <a:srgbClr val="13294B"/>
          </a:solidFill>
          <a:ln w="12700">
            <a:solidFill>
              <a:srgbClr val="13294B"/>
            </a:solidFill>
            <a:prstDash val="solid"/>
          </a:ln>
        </p:spPr>
      </p:sp>
      <p:sp>
        <p:nvSpPr>
          <p:cNvPr id="47" name="Shape 45"/>
          <p:cNvSpPr/>
          <p:nvPr/>
        </p:nvSpPr>
        <p:spPr>
          <a:xfrm>
            <a:off x="5166360" y="4224528"/>
            <a:ext cx="182880" cy="182880"/>
          </a:xfrm>
          <a:prstGeom prst="ellipse">
            <a:avLst/>
          </a:prstGeom>
          <a:solidFill>
            <a:srgbClr val="FFFFFF"/>
          </a:solidFill>
          <a:ln w="15875">
            <a:solidFill>
              <a:srgbClr val="C9CED6"/>
            </a:solidFill>
            <a:prstDash val="solid"/>
          </a:ln>
        </p:spPr>
      </p:sp>
      <p:sp>
        <p:nvSpPr>
          <p:cNvPr id="48" name="Shape 46"/>
          <p:cNvSpPr/>
          <p:nvPr/>
        </p:nvSpPr>
        <p:spPr>
          <a:xfrm>
            <a:off x="5989320" y="4224528"/>
            <a:ext cx="182880" cy="182880"/>
          </a:xfrm>
          <a:prstGeom prst="ellipse">
            <a:avLst/>
          </a:prstGeom>
          <a:solidFill>
            <a:srgbClr val="A9DCE0"/>
          </a:solidFill>
          <a:ln w="12700">
            <a:solidFill>
              <a:srgbClr val="13294B"/>
            </a:solidFill>
            <a:prstDash val="solid"/>
          </a:ln>
        </p:spPr>
      </p:sp>
      <p:sp>
        <p:nvSpPr>
          <p:cNvPr id="49" name="Shape 47"/>
          <p:cNvSpPr/>
          <p:nvPr/>
        </p:nvSpPr>
        <p:spPr>
          <a:xfrm>
            <a:off x="6812280" y="4224528"/>
            <a:ext cx="182880" cy="182880"/>
          </a:xfrm>
          <a:prstGeom prst="ellipse">
            <a:avLst/>
          </a:prstGeom>
          <a:solidFill>
            <a:srgbClr val="FFFFFF"/>
          </a:solidFill>
          <a:ln w="15875">
            <a:solidFill>
              <a:srgbClr val="C9CED6"/>
            </a:solidFill>
            <a:prstDash val="solid"/>
          </a:ln>
        </p:spPr>
      </p:sp>
      <p:sp>
        <p:nvSpPr>
          <p:cNvPr id="50" name="Shape 48"/>
          <p:cNvSpPr/>
          <p:nvPr/>
        </p:nvSpPr>
        <p:spPr>
          <a:xfrm>
            <a:off x="7635240" y="4224528"/>
            <a:ext cx="182880" cy="182880"/>
          </a:xfrm>
          <a:prstGeom prst="ellipse">
            <a:avLst/>
          </a:prstGeom>
          <a:solidFill>
            <a:srgbClr val="13294B"/>
          </a:solidFill>
          <a:ln w="12700">
            <a:solidFill>
              <a:srgbClr val="13294B"/>
            </a:solidFill>
            <a:prstDash val="solid"/>
          </a:ln>
        </p:spPr>
      </p:sp>
      <p:sp>
        <p:nvSpPr>
          <p:cNvPr id="51" name="Shape 49"/>
          <p:cNvSpPr/>
          <p:nvPr/>
        </p:nvSpPr>
        <p:spPr>
          <a:xfrm>
            <a:off x="685800" y="4480560"/>
            <a:ext cx="7452360" cy="0"/>
          </a:xfrm>
          <a:prstGeom prst="line">
            <a:avLst/>
          </a:prstGeom>
          <a:noFill/>
          <a:ln w="9525">
            <a:solidFill>
              <a:srgbClr val="E3E6EA"/>
            </a:solidFill>
            <a:prstDash val="solid"/>
          </a:ln>
        </p:spPr>
      </p:sp>
      <p:sp>
        <p:nvSpPr>
          <p:cNvPr id="52" name="Text 50"/>
          <p:cNvSpPr txBox="1"/>
          <p:nvPr/>
        </p:nvSpPr>
        <p:spPr>
          <a:xfrm>
            <a:off x="777240" y="4507992"/>
            <a:ext cx="2423160" cy="384048"/>
          </a:xfrm>
          <a:prstGeom prst="rect">
            <a:avLst/>
          </a:prstGeom>
          <a:noFill/>
          <a:ln/>
        </p:spPr>
        <p:txBody>
          <a:bodyPr wrap="square" lIns="0" tIns="0" rIns="0" bIns="0" rtlCol="0" anchor="ctr"/>
          <a:lstStyle/>
          <a:p>
            <a:pPr indent="0" marL="0">
              <a:buNone/>
            </a:pPr>
            <a:r>
              <a:rPr lang="en-US" sz="1200" b="1" dirty="0">
                <a:solidFill>
                  <a:srgbClr val="263746"/>
                </a:solidFill>
                <a:latin typeface="Avenir Next LT Pro" pitchFamily="34" charset="0"/>
                <a:ea typeface="Avenir Next LT Pro" pitchFamily="34" charset="-122"/>
                <a:cs typeface="Avenir Next LT Pro" pitchFamily="34" charset="-120"/>
              </a:rPr>
              <a:t>GDPval</a:t>
            </a:r>
            <a:endParaRPr lang="en-US" sz="1200" dirty="0"/>
          </a:p>
          <a:p>
            <a:pPr indent="0" marL="0">
              <a:buNone/>
            </a:pPr>
            <a:r>
              <a:rPr lang="en-US" sz="900" dirty="0">
                <a:solidFill>
                  <a:srgbClr val="5A6670"/>
                </a:solidFill>
                <a:latin typeface="Avenir Next LT Pro" pitchFamily="34" charset="0"/>
                <a:ea typeface="Avenir Next LT Pro" pitchFamily="34" charset="-122"/>
                <a:cs typeface="Avenir Next LT Pro" pitchFamily="34" charset="-120"/>
              </a:rPr>
              <a:t>Expert deliverables, 44 jobs</a:t>
            </a:r>
            <a:endParaRPr lang="en-US" sz="1200" dirty="0"/>
          </a:p>
        </p:txBody>
      </p:sp>
      <p:sp>
        <p:nvSpPr>
          <p:cNvPr id="53" name="Shape 51"/>
          <p:cNvSpPr/>
          <p:nvPr/>
        </p:nvSpPr>
        <p:spPr>
          <a:xfrm>
            <a:off x="3520440" y="4608576"/>
            <a:ext cx="182880" cy="182880"/>
          </a:xfrm>
          <a:prstGeom prst="ellipse">
            <a:avLst/>
          </a:prstGeom>
          <a:solidFill>
            <a:srgbClr val="A9DCE0"/>
          </a:solidFill>
          <a:ln w="12700">
            <a:solidFill>
              <a:srgbClr val="13294B"/>
            </a:solidFill>
            <a:prstDash val="solid"/>
          </a:ln>
        </p:spPr>
      </p:sp>
      <p:sp>
        <p:nvSpPr>
          <p:cNvPr id="54" name="Shape 52"/>
          <p:cNvSpPr/>
          <p:nvPr/>
        </p:nvSpPr>
        <p:spPr>
          <a:xfrm>
            <a:off x="4343400" y="4608576"/>
            <a:ext cx="182880" cy="182880"/>
          </a:xfrm>
          <a:prstGeom prst="ellipse">
            <a:avLst/>
          </a:prstGeom>
          <a:solidFill>
            <a:srgbClr val="13294B"/>
          </a:solidFill>
          <a:ln w="12700">
            <a:solidFill>
              <a:srgbClr val="13294B"/>
            </a:solidFill>
            <a:prstDash val="solid"/>
          </a:ln>
        </p:spPr>
      </p:sp>
      <p:sp>
        <p:nvSpPr>
          <p:cNvPr id="55" name="Shape 53"/>
          <p:cNvSpPr/>
          <p:nvPr/>
        </p:nvSpPr>
        <p:spPr>
          <a:xfrm>
            <a:off x="5166360" y="4608576"/>
            <a:ext cx="182880" cy="182880"/>
          </a:xfrm>
          <a:prstGeom prst="ellipse">
            <a:avLst/>
          </a:prstGeom>
          <a:solidFill>
            <a:srgbClr val="FFFFFF"/>
          </a:solidFill>
          <a:ln w="15875">
            <a:solidFill>
              <a:srgbClr val="C9CED6"/>
            </a:solidFill>
            <a:prstDash val="solid"/>
          </a:ln>
        </p:spPr>
      </p:sp>
      <p:sp>
        <p:nvSpPr>
          <p:cNvPr id="56" name="Shape 54"/>
          <p:cNvSpPr/>
          <p:nvPr/>
        </p:nvSpPr>
        <p:spPr>
          <a:xfrm>
            <a:off x="5989320" y="4608576"/>
            <a:ext cx="182880" cy="182880"/>
          </a:xfrm>
          <a:prstGeom prst="ellipse">
            <a:avLst/>
          </a:prstGeom>
          <a:solidFill>
            <a:srgbClr val="FFFFFF"/>
          </a:solidFill>
          <a:ln w="15875">
            <a:solidFill>
              <a:srgbClr val="C9CED6"/>
            </a:solidFill>
            <a:prstDash val="solid"/>
          </a:ln>
        </p:spPr>
      </p:sp>
      <p:sp>
        <p:nvSpPr>
          <p:cNvPr id="57" name="Shape 55"/>
          <p:cNvSpPr/>
          <p:nvPr/>
        </p:nvSpPr>
        <p:spPr>
          <a:xfrm>
            <a:off x="6812280" y="4608576"/>
            <a:ext cx="182880" cy="182880"/>
          </a:xfrm>
          <a:prstGeom prst="ellipse">
            <a:avLst/>
          </a:prstGeom>
          <a:solidFill>
            <a:srgbClr val="FFFFFF"/>
          </a:solidFill>
          <a:ln w="15875">
            <a:solidFill>
              <a:srgbClr val="C9CED6"/>
            </a:solidFill>
            <a:prstDash val="solid"/>
          </a:ln>
        </p:spPr>
      </p:sp>
      <p:sp>
        <p:nvSpPr>
          <p:cNvPr id="58" name="Shape 56"/>
          <p:cNvSpPr/>
          <p:nvPr/>
        </p:nvSpPr>
        <p:spPr>
          <a:xfrm>
            <a:off x="7635240" y="4608576"/>
            <a:ext cx="182880" cy="182880"/>
          </a:xfrm>
          <a:prstGeom prst="ellipse">
            <a:avLst/>
          </a:prstGeom>
          <a:solidFill>
            <a:srgbClr val="FFFFFF"/>
          </a:solidFill>
          <a:ln w="15875">
            <a:solidFill>
              <a:srgbClr val="C9CED6"/>
            </a:solidFill>
            <a:prstDash val="solid"/>
          </a:ln>
        </p:spPr>
      </p:sp>
      <p:sp>
        <p:nvSpPr>
          <p:cNvPr id="59" name="Shape 57"/>
          <p:cNvSpPr/>
          <p:nvPr/>
        </p:nvSpPr>
        <p:spPr>
          <a:xfrm>
            <a:off x="685800" y="4864608"/>
            <a:ext cx="7452360" cy="0"/>
          </a:xfrm>
          <a:prstGeom prst="line">
            <a:avLst/>
          </a:prstGeom>
          <a:noFill/>
          <a:ln w="9525">
            <a:solidFill>
              <a:srgbClr val="E3E6EA"/>
            </a:solidFill>
            <a:prstDash val="solid"/>
          </a:ln>
        </p:spPr>
      </p:sp>
      <p:sp>
        <p:nvSpPr>
          <p:cNvPr id="60" name="Text 58"/>
          <p:cNvSpPr txBox="1"/>
          <p:nvPr/>
        </p:nvSpPr>
        <p:spPr>
          <a:xfrm>
            <a:off x="777240" y="4892040"/>
            <a:ext cx="2423160" cy="384048"/>
          </a:xfrm>
          <a:prstGeom prst="rect">
            <a:avLst/>
          </a:prstGeom>
          <a:noFill/>
          <a:ln/>
        </p:spPr>
        <p:txBody>
          <a:bodyPr wrap="square" lIns="0" tIns="0" rIns="0" bIns="0" rtlCol="0" anchor="ctr"/>
          <a:lstStyle/>
          <a:p>
            <a:pPr indent="0" marL="0">
              <a:buNone/>
            </a:pPr>
            <a:r>
              <a:rPr lang="en-US" sz="1200" b="1" dirty="0">
                <a:solidFill>
                  <a:srgbClr val="263746"/>
                </a:solidFill>
                <a:latin typeface="Avenir Next LT Pro" pitchFamily="34" charset="0"/>
                <a:ea typeface="Avenir Next LT Pro" pitchFamily="34" charset="-122"/>
                <a:cs typeface="Avenir Next LT Pro" pitchFamily="34" charset="-120"/>
              </a:rPr>
              <a:t>Vals Finance Agent v2</a:t>
            </a:r>
            <a:endParaRPr lang="en-US" sz="1200" dirty="0"/>
          </a:p>
          <a:p>
            <a:pPr indent="0" marL="0">
              <a:buNone/>
            </a:pPr>
            <a:r>
              <a:rPr lang="en-US" sz="900" dirty="0">
                <a:solidFill>
                  <a:srgbClr val="5A6670"/>
                </a:solidFill>
                <a:latin typeface="Avenir Next LT Pro" pitchFamily="34" charset="0"/>
                <a:ea typeface="Avenir Next LT Pro" pitchFamily="34" charset="-122"/>
                <a:cs typeface="Avenir Next LT Pro" pitchFamily="34" charset="-120"/>
              </a:rPr>
              <a:t>Equity-analyst research</a:t>
            </a:r>
            <a:endParaRPr lang="en-US" sz="1200" dirty="0"/>
          </a:p>
        </p:txBody>
      </p:sp>
      <p:sp>
        <p:nvSpPr>
          <p:cNvPr id="61" name="Shape 59"/>
          <p:cNvSpPr/>
          <p:nvPr/>
        </p:nvSpPr>
        <p:spPr>
          <a:xfrm>
            <a:off x="3520440" y="4992624"/>
            <a:ext cx="182880" cy="182880"/>
          </a:xfrm>
          <a:prstGeom prst="ellipse">
            <a:avLst/>
          </a:prstGeom>
          <a:solidFill>
            <a:srgbClr val="13294B"/>
          </a:solidFill>
          <a:ln w="12700">
            <a:solidFill>
              <a:srgbClr val="13294B"/>
            </a:solidFill>
            <a:prstDash val="solid"/>
          </a:ln>
        </p:spPr>
      </p:sp>
      <p:sp>
        <p:nvSpPr>
          <p:cNvPr id="62" name="Shape 60"/>
          <p:cNvSpPr/>
          <p:nvPr/>
        </p:nvSpPr>
        <p:spPr>
          <a:xfrm>
            <a:off x="4343400" y="4992624"/>
            <a:ext cx="182880" cy="182880"/>
          </a:xfrm>
          <a:prstGeom prst="ellipse">
            <a:avLst/>
          </a:prstGeom>
          <a:solidFill>
            <a:srgbClr val="13294B"/>
          </a:solidFill>
          <a:ln w="12700">
            <a:solidFill>
              <a:srgbClr val="13294B"/>
            </a:solidFill>
            <a:prstDash val="solid"/>
          </a:ln>
        </p:spPr>
      </p:sp>
      <p:sp>
        <p:nvSpPr>
          <p:cNvPr id="63" name="Shape 61"/>
          <p:cNvSpPr/>
          <p:nvPr/>
        </p:nvSpPr>
        <p:spPr>
          <a:xfrm>
            <a:off x="5166360" y="4992624"/>
            <a:ext cx="182880" cy="182880"/>
          </a:xfrm>
          <a:prstGeom prst="ellipse">
            <a:avLst/>
          </a:prstGeom>
          <a:solidFill>
            <a:srgbClr val="FFFFFF"/>
          </a:solidFill>
          <a:ln w="15875">
            <a:solidFill>
              <a:srgbClr val="C9CED6"/>
            </a:solidFill>
            <a:prstDash val="solid"/>
          </a:ln>
        </p:spPr>
      </p:sp>
      <p:sp>
        <p:nvSpPr>
          <p:cNvPr id="64" name="Shape 62"/>
          <p:cNvSpPr/>
          <p:nvPr/>
        </p:nvSpPr>
        <p:spPr>
          <a:xfrm>
            <a:off x="5989320" y="4992624"/>
            <a:ext cx="182880" cy="182880"/>
          </a:xfrm>
          <a:prstGeom prst="ellipse">
            <a:avLst/>
          </a:prstGeom>
          <a:solidFill>
            <a:srgbClr val="FFFFFF"/>
          </a:solidFill>
          <a:ln w="15875">
            <a:solidFill>
              <a:srgbClr val="C9CED6"/>
            </a:solidFill>
            <a:prstDash val="solid"/>
          </a:ln>
        </p:spPr>
      </p:sp>
      <p:sp>
        <p:nvSpPr>
          <p:cNvPr id="65" name="Shape 63"/>
          <p:cNvSpPr/>
          <p:nvPr/>
        </p:nvSpPr>
        <p:spPr>
          <a:xfrm>
            <a:off x="6812280" y="4992624"/>
            <a:ext cx="182880" cy="182880"/>
          </a:xfrm>
          <a:prstGeom prst="ellipse">
            <a:avLst/>
          </a:prstGeom>
          <a:solidFill>
            <a:srgbClr val="FFFFFF"/>
          </a:solidFill>
          <a:ln w="15875">
            <a:solidFill>
              <a:srgbClr val="C9CED6"/>
            </a:solidFill>
            <a:prstDash val="solid"/>
          </a:ln>
        </p:spPr>
      </p:sp>
      <p:sp>
        <p:nvSpPr>
          <p:cNvPr id="66" name="Shape 64"/>
          <p:cNvSpPr/>
          <p:nvPr/>
        </p:nvSpPr>
        <p:spPr>
          <a:xfrm>
            <a:off x="7635240" y="4992624"/>
            <a:ext cx="182880" cy="182880"/>
          </a:xfrm>
          <a:prstGeom prst="ellipse">
            <a:avLst/>
          </a:prstGeom>
          <a:solidFill>
            <a:srgbClr val="A9DCE0"/>
          </a:solidFill>
          <a:ln w="12700">
            <a:solidFill>
              <a:srgbClr val="13294B"/>
            </a:solidFill>
            <a:prstDash val="solid"/>
          </a:ln>
        </p:spPr>
      </p:sp>
      <p:sp>
        <p:nvSpPr>
          <p:cNvPr id="67" name="Shape 65"/>
          <p:cNvSpPr/>
          <p:nvPr/>
        </p:nvSpPr>
        <p:spPr>
          <a:xfrm>
            <a:off x="685800" y="5248656"/>
            <a:ext cx="7452360" cy="0"/>
          </a:xfrm>
          <a:prstGeom prst="line">
            <a:avLst/>
          </a:prstGeom>
          <a:noFill/>
          <a:ln w="9525">
            <a:solidFill>
              <a:srgbClr val="E3E6EA"/>
            </a:solidFill>
            <a:prstDash val="solid"/>
          </a:ln>
        </p:spPr>
      </p:sp>
      <p:sp>
        <p:nvSpPr>
          <p:cNvPr id="68" name="Text 66"/>
          <p:cNvSpPr txBox="1"/>
          <p:nvPr/>
        </p:nvSpPr>
        <p:spPr>
          <a:xfrm>
            <a:off x="777240" y="5276088"/>
            <a:ext cx="2423160" cy="384048"/>
          </a:xfrm>
          <a:prstGeom prst="rect">
            <a:avLst/>
          </a:prstGeom>
          <a:noFill/>
          <a:ln/>
        </p:spPr>
        <p:txBody>
          <a:bodyPr wrap="square" lIns="0" tIns="0" rIns="0" bIns="0" rtlCol="0" anchor="ctr"/>
          <a:lstStyle/>
          <a:p>
            <a:pPr indent="0" marL="0">
              <a:buNone/>
            </a:pPr>
            <a:r>
              <a:rPr lang="en-US" sz="1200" b="1" dirty="0">
                <a:solidFill>
                  <a:srgbClr val="263746"/>
                </a:solidFill>
                <a:latin typeface="Avenir Next LT Pro" pitchFamily="34" charset="0"/>
                <a:ea typeface="Avenir Next LT Pro" pitchFamily="34" charset="-122"/>
                <a:cs typeface="Avenir Next LT Pro" pitchFamily="34" charset="-120"/>
              </a:rPr>
              <a:t>FrontierFinance</a:t>
            </a:r>
            <a:endParaRPr lang="en-US" sz="1200" dirty="0"/>
          </a:p>
          <a:p>
            <a:pPr indent="0" marL="0">
              <a:buNone/>
            </a:pPr>
            <a:r>
              <a:rPr lang="en-US" sz="900" dirty="0">
                <a:solidFill>
                  <a:srgbClr val="5A6670"/>
                </a:solidFill>
                <a:latin typeface="Avenir Next LT Pro" pitchFamily="34" charset="0"/>
                <a:ea typeface="Avenir Next LT Pro" pitchFamily="34" charset="-122"/>
                <a:cs typeface="Avenir Next LT Pro" pitchFamily="34" charset="-120"/>
              </a:rPr>
              <a:t>Investor research workflow</a:t>
            </a:r>
            <a:endParaRPr lang="en-US" sz="1200" dirty="0"/>
          </a:p>
        </p:txBody>
      </p:sp>
      <p:sp>
        <p:nvSpPr>
          <p:cNvPr id="69" name="Shape 67"/>
          <p:cNvSpPr/>
          <p:nvPr/>
        </p:nvSpPr>
        <p:spPr>
          <a:xfrm>
            <a:off x="3520440" y="5376672"/>
            <a:ext cx="182880" cy="182880"/>
          </a:xfrm>
          <a:prstGeom prst="ellipse">
            <a:avLst/>
          </a:prstGeom>
          <a:solidFill>
            <a:srgbClr val="13294B"/>
          </a:solidFill>
          <a:ln w="12700">
            <a:solidFill>
              <a:srgbClr val="13294B"/>
            </a:solidFill>
            <a:prstDash val="solid"/>
          </a:ln>
        </p:spPr>
      </p:sp>
      <p:sp>
        <p:nvSpPr>
          <p:cNvPr id="70" name="Shape 68"/>
          <p:cNvSpPr/>
          <p:nvPr/>
        </p:nvSpPr>
        <p:spPr>
          <a:xfrm>
            <a:off x="4343400" y="5376672"/>
            <a:ext cx="182880" cy="182880"/>
          </a:xfrm>
          <a:prstGeom prst="ellipse">
            <a:avLst/>
          </a:prstGeom>
          <a:solidFill>
            <a:srgbClr val="13294B"/>
          </a:solidFill>
          <a:ln w="12700">
            <a:solidFill>
              <a:srgbClr val="13294B"/>
            </a:solidFill>
            <a:prstDash val="solid"/>
          </a:ln>
        </p:spPr>
      </p:sp>
      <p:sp>
        <p:nvSpPr>
          <p:cNvPr id="71" name="Shape 69"/>
          <p:cNvSpPr/>
          <p:nvPr/>
        </p:nvSpPr>
        <p:spPr>
          <a:xfrm>
            <a:off x="5166360" y="5376672"/>
            <a:ext cx="182880" cy="182880"/>
          </a:xfrm>
          <a:prstGeom prst="ellipse">
            <a:avLst/>
          </a:prstGeom>
          <a:solidFill>
            <a:srgbClr val="FFFFFF"/>
          </a:solidFill>
          <a:ln w="15875">
            <a:solidFill>
              <a:srgbClr val="C9CED6"/>
            </a:solidFill>
            <a:prstDash val="solid"/>
          </a:ln>
        </p:spPr>
      </p:sp>
      <p:sp>
        <p:nvSpPr>
          <p:cNvPr id="72" name="Shape 70"/>
          <p:cNvSpPr/>
          <p:nvPr/>
        </p:nvSpPr>
        <p:spPr>
          <a:xfrm>
            <a:off x="5989320" y="5376672"/>
            <a:ext cx="182880" cy="182880"/>
          </a:xfrm>
          <a:prstGeom prst="ellipse">
            <a:avLst/>
          </a:prstGeom>
          <a:solidFill>
            <a:srgbClr val="FFFFFF"/>
          </a:solidFill>
          <a:ln w="15875">
            <a:solidFill>
              <a:srgbClr val="C9CED6"/>
            </a:solidFill>
            <a:prstDash val="solid"/>
          </a:ln>
        </p:spPr>
      </p:sp>
      <p:sp>
        <p:nvSpPr>
          <p:cNvPr id="73" name="Shape 71"/>
          <p:cNvSpPr/>
          <p:nvPr/>
        </p:nvSpPr>
        <p:spPr>
          <a:xfrm>
            <a:off x="6812280" y="5376672"/>
            <a:ext cx="182880" cy="182880"/>
          </a:xfrm>
          <a:prstGeom prst="ellipse">
            <a:avLst/>
          </a:prstGeom>
          <a:solidFill>
            <a:srgbClr val="A9DCE0"/>
          </a:solidFill>
          <a:ln w="12700">
            <a:solidFill>
              <a:srgbClr val="13294B"/>
            </a:solidFill>
            <a:prstDash val="solid"/>
          </a:ln>
        </p:spPr>
      </p:sp>
      <p:sp>
        <p:nvSpPr>
          <p:cNvPr id="74" name="Shape 72"/>
          <p:cNvSpPr/>
          <p:nvPr/>
        </p:nvSpPr>
        <p:spPr>
          <a:xfrm>
            <a:off x="7635240" y="5376672"/>
            <a:ext cx="182880" cy="182880"/>
          </a:xfrm>
          <a:prstGeom prst="ellipse">
            <a:avLst/>
          </a:prstGeom>
          <a:solidFill>
            <a:srgbClr val="A9DCE0"/>
          </a:solidFill>
          <a:ln w="12700">
            <a:solidFill>
              <a:srgbClr val="13294B"/>
            </a:solidFill>
            <a:prstDash val="solid"/>
          </a:ln>
        </p:spPr>
      </p:sp>
      <p:sp>
        <p:nvSpPr>
          <p:cNvPr id="75" name="SASOB row"/>
          <p:cNvSpPr/>
          <p:nvPr/>
        </p:nvSpPr>
        <p:spPr>
          <a:xfrm>
            <a:off x="685800" y="5660136"/>
            <a:ext cx="7452360" cy="384048"/>
          </a:xfrm>
          <a:prstGeom prst="rect">
            <a:avLst/>
          </a:prstGeom>
          <a:solidFill>
            <a:srgbClr val="13294B"/>
          </a:solidFill>
          <a:ln w="12700">
            <a:solidFill>
              <a:srgbClr val="13294B"/>
            </a:solidFill>
            <a:prstDash val="solid"/>
          </a:ln>
        </p:spPr>
      </p:sp>
      <p:sp>
        <p:nvSpPr>
          <p:cNvPr id="76" name="Text 74"/>
          <p:cNvSpPr txBox="1"/>
          <p:nvPr/>
        </p:nvSpPr>
        <p:spPr>
          <a:xfrm>
            <a:off x="777240" y="5660136"/>
            <a:ext cx="2423160" cy="384048"/>
          </a:xfrm>
          <a:prstGeom prst="rect">
            <a:avLst/>
          </a:prstGeom>
          <a:noFill/>
          <a:ln/>
        </p:spPr>
        <p:txBody>
          <a:bodyPr wrap="square" lIns="0" tIns="0" rIns="0" bIns="0" rtlCol="0" anchor="ctr"/>
          <a:lstStyle/>
          <a:p>
            <a:pPr indent="0" marL="0">
              <a:buNone/>
            </a:pPr>
            <a:r>
              <a:rPr lang="en-US" sz="1200" b="1" dirty="0">
                <a:solidFill>
                  <a:srgbClr val="FFFFFF"/>
                </a:solidFill>
                <a:latin typeface="Avenir Next LT Pro" pitchFamily="34" charset="0"/>
                <a:ea typeface="Avenir Next LT Pro" pitchFamily="34" charset="-122"/>
                <a:cs typeface="Avenir Next LT Pro" pitchFamily="34" charset="-120"/>
              </a:rPr>
              <a:t>SASOB</a:t>
            </a:r>
            <a:endParaRPr lang="en-US" sz="1200" dirty="0"/>
          </a:p>
          <a:p>
            <a:pPr indent="0" marL="0">
              <a:buNone/>
            </a:pPr>
            <a:r>
              <a:rPr lang="en-US" sz="900" dirty="0">
                <a:solidFill>
                  <a:srgbClr val="7FE0DC"/>
                </a:solidFill>
                <a:latin typeface="Avenir Next LT Pro" pitchFamily="34" charset="0"/>
                <a:ea typeface="Avenir Next LT Pro" pitchFamily="34" charset="-122"/>
                <a:cs typeface="Avenir Next LT Pro" pitchFamily="34" charset="-120"/>
              </a:rPr>
              <a:t>Senior fund operations work</a:t>
            </a:r>
            <a:endParaRPr lang="en-US" sz="1200" dirty="0"/>
          </a:p>
        </p:txBody>
      </p:sp>
      <p:sp>
        <p:nvSpPr>
          <p:cNvPr id="77" name="Shape 75"/>
          <p:cNvSpPr/>
          <p:nvPr/>
        </p:nvSpPr>
        <p:spPr>
          <a:xfrm>
            <a:off x="3520440" y="5760720"/>
            <a:ext cx="182880" cy="182880"/>
          </a:xfrm>
          <a:prstGeom prst="ellipse">
            <a:avLst/>
          </a:prstGeom>
          <a:solidFill>
            <a:srgbClr val="7FE0DC"/>
          </a:solidFill>
          <a:ln w="12700">
            <a:solidFill>
              <a:srgbClr val="7FE0DC"/>
            </a:solidFill>
            <a:prstDash val="solid"/>
          </a:ln>
        </p:spPr>
      </p:sp>
      <p:sp>
        <p:nvSpPr>
          <p:cNvPr id="78" name="Shape 76"/>
          <p:cNvSpPr/>
          <p:nvPr/>
        </p:nvSpPr>
        <p:spPr>
          <a:xfrm>
            <a:off x="4343400" y="5760720"/>
            <a:ext cx="182880" cy="182880"/>
          </a:xfrm>
          <a:prstGeom prst="ellipse">
            <a:avLst/>
          </a:prstGeom>
          <a:solidFill>
            <a:srgbClr val="7FE0DC"/>
          </a:solidFill>
          <a:ln w="12700">
            <a:solidFill>
              <a:srgbClr val="7FE0DC"/>
            </a:solidFill>
            <a:prstDash val="solid"/>
          </a:ln>
        </p:spPr>
      </p:sp>
      <p:sp>
        <p:nvSpPr>
          <p:cNvPr id="79" name="Shape 77"/>
          <p:cNvSpPr/>
          <p:nvPr/>
        </p:nvSpPr>
        <p:spPr>
          <a:xfrm>
            <a:off x="5166360" y="5760720"/>
            <a:ext cx="182880" cy="182880"/>
          </a:xfrm>
          <a:prstGeom prst="ellipse">
            <a:avLst/>
          </a:prstGeom>
          <a:solidFill>
            <a:srgbClr val="7FE0DC"/>
          </a:solidFill>
          <a:ln w="12700">
            <a:solidFill>
              <a:srgbClr val="7FE0DC"/>
            </a:solidFill>
            <a:prstDash val="solid"/>
          </a:ln>
        </p:spPr>
      </p:sp>
      <p:sp>
        <p:nvSpPr>
          <p:cNvPr id="80" name="Shape 78"/>
          <p:cNvSpPr/>
          <p:nvPr/>
        </p:nvSpPr>
        <p:spPr>
          <a:xfrm>
            <a:off x="5989320" y="5760720"/>
            <a:ext cx="182880" cy="182880"/>
          </a:xfrm>
          <a:prstGeom prst="ellipse">
            <a:avLst/>
          </a:prstGeom>
          <a:solidFill>
            <a:srgbClr val="7FE0DC"/>
          </a:solidFill>
          <a:ln w="12700">
            <a:solidFill>
              <a:srgbClr val="7FE0DC"/>
            </a:solidFill>
            <a:prstDash val="solid"/>
          </a:ln>
        </p:spPr>
      </p:sp>
      <p:sp>
        <p:nvSpPr>
          <p:cNvPr id="81" name="Shape 79"/>
          <p:cNvSpPr/>
          <p:nvPr/>
        </p:nvSpPr>
        <p:spPr>
          <a:xfrm>
            <a:off x="6812280" y="5760720"/>
            <a:ext cx="182880" cy="182880"/>
          </a:xfrm>
          <a:prstGeom prst="ellipse">
            <a:avLst/>
          </a:prstGeom>
          <a:solidFill>
            <a:srgbClr val="7FE0DC"/>
          </a:solidFill>
          <a:ln w="12700">
            <a:solidFill>
              <a:srgbClr val="7FE0DC"/>
            </a:solidFill>
            <a:prstDash val="solid"/>
          </a:ln>
        </p:spPr>
      </p:sp>
      <p:sp>
        <p:nvSpPr>
          <p:cNvPr id="82" name="Shape 80"/>
          <p:cNvSpPr/>
          <p:nvPr/>
        </p:nvSpPr>
        <p:spPr>
          <a:xfrm>
            <a:off x="7635240" y="5760720"/>
            <a:ext cx="182880" cy="182880"/>
          </a:xfrm>
          <a:prstGeom prst="ellipse">
            <a:avLst/>
          </a:prstGeom>
          <a:solidFill>
            <a:srgbClr val="7FE0DC"/>
          </a:solidFill>
          <a:ln w="12700">
            <a:solidFill>
              <a:srgbClr val="7FE0DC"/>
            </a:solidFill>
            <a:prstDash val="solid"/>
          </a:ln>
        </p:spPr>
      </p:sp>
      <p:sp>
        <p:nvSpPr>
          <p:cNvPr id="83" name="Shape 81"/>
          <p:cNvSpPr/>
          <p:nvPr/>
        </p:nvSpPr>
        <p:spPr>
          <a:xfrm>
            <a:off x="777240" y="6144768"/>
            <a:ext cx="137160" cy="137160"/>
          </a:xfrm>
          <a:prstGeom prst="ellipse">
            <a:avLst/>
          </a:prstGeom>
          <a:solidFill>
            <a:srgbClr val="13294B"/>
          </a:solidFill>
          <a:ln w="12700">
            <a:solidFill>
              <a:srgbClr val="13294B"/>
            </a:solidFill>
            <a:prstDash val="solid"/>
          </a:ln>
        </p:spPr>
      </p:sp>
      <p:sp>
        <p:nvSpPr>
          <p:cNvPr id="84" name="Text 82"/>
          <p:cNvSpPr txBox="1"/>
          <p:nvPr/>
        </p:nvSpPr>
        <p:spPr>
          <a:xfrm>
            <a:off x="978408" y="6108192"/>
            <a:ext cx="777240" cy="210312"/>
          </a:xfrm>
          <a:prstGeom prst="rect">
            <a:avLst/>
          </a:prstGeom>
          <a:noFill/>
          <a:ln/>
        </p:spPr>
        <p:txBody>
          <a:bodyPr wrap="square" lIns="0" tIns="0" rIns="0" bIns="0" rtlCol="0" anchor="ctr"/>
          <a:lstStyle/>
          <a:p>
            <a:pPr indent="0" marL="0">
              <a:buNone/>
            </a:pPr>
            <a:r>
              <a:rPr lang="en-US" sz="1000" dirty="0">
                <a:solidFill>
                  <a:srgbClr val="5A6670"/>
                </a:solidFill>
                <a:latin typeface="Avenir Next LT Pro" pitchFamily="34" charset="0"/>
                <a:ea typeface="Avenir Next LT Pro" pitchFamily="34" charset="-122"/>
                <a:cs typeface="Avenir Next LT Pro" pitchFamily="34" charset="-120"/>
              </a:rPr>
              <a:t>Full</a:t>
            </a:r>
            <a:endParaRPr lang="en-US" sz="1000" dirty="0"/>
          </a:p>
        </p:txBody>
      </p:sp>
      <p:sp>
        <p:nvSpPr>
          <p:cNvPr id="85" name="Shape 83"/>
          <p:cNvSpPr/>
          <p:nvPr/>
        </p:nvSpPr>
        <p:spPr>
          <a:xfrm>
            <a:off x="1828800" y="6144768"/>
            <a:ext cx="137160" cy="137160"/>
          </a:xfrm>
          <a:prstGeom prst="ellipse">
            <a:avLst/>
          </a:prstGeom>
          <a:solidFill>
            <a:srgbClr val="A9DCE0"/>
          </a:solidFill>
          <a:ln w="12700">
            <a:solidFill>
              <a:srgbClr val="13294B"/>
            </a:solidFill>
            <a:prstDash val="solid"/>
          </a:ln>
        </p:spPr>
      </p:sp>
      <p:sp>
        <p:nvSpPr>
          <p:cNvPr id="86" name="Text 84"/>
          <p:cNvSpPr txBox="1"/>
          <p:nvPr/>
        </p:nvSpPr>
        <p:spPr>
          <a:xfrm>
            <a:off x="2029968" y="6108192"/>
            <a:ext cx="777240" cy="210312"/>
          </a:xfrm>
          <a:prstGeom prst="rect">
            <a:avLst/>
          </a:prstGeom>
          <a:noFill/>
          <a:ln/>
        </p:spPr>
        <p:txBody>
          <a:bodyPr wrap="square" lIns="0" tIns="0" rIns="0" bIns="0" rtlCol="0" anchor="ctr"/>
          <a:lstStyle/>
          <a:p>
            <a:pPr indent="0" marL="0">
              <a:buNone/>
            </a:pPr>
            <a:r>
              <a:rPr lang="en-US" sz="1000" dirty="0">
                <a:solidFill>
                  <a:srgbClr val="5A6670"/>
                </a:solidFill>
                <a:latin typeface="Avenir Next LT Pro" pitchFamily="34" charset="0"/>
                <a:ea typeface="Avenir Next LT Pro" pitchFamily="34" charset="-122"/>
                <a:cs typeface="Avenir Next LT Pro" pitchFamily="34" charset="-120"/>
              </a:rPr>
              <a:t>Partial</a:t>
            </a:r>
            <a:endParaRPr lang="en-US" sz="1000" dirty="0"/>
          </a:p>
        </p:txBody>
      </p:sp>
      <p:sp>
        <p:nvSpPr>
          <p:cNvPr id="87" name="Shape 85"/>
          <p:cNvSpPr/>
          <p:nvPr/>
        </p:nvSpPr>
        <p:spPr>
          <a:xfrm>
            <a:off x="2880360" y="6144768"/>
            <a:ext cx="137160" cy="137160"/>
          </a:xfrm>
          <a:prstGeom prst="ellipse">
            <a:avLst/>
          </a:prstGeom>
          <a:solidFill>
            <a:srgbClr val="FFFFFF"/>
          </a:solidFill>
          <a:ln w="12700">
            <a:solidFill>
              <a:srgbClr val="C9CED6"/>
            </a:solidFill>
            <a:prstDash val="solid"/>
          </a:ln>
        </p:spPr>
      </p:sp>
      <p:sp>
        <p:nvSpPr>
          <p:cNvPr id="88" name="Text 86"/>
          <p:cNvSpPr txBox="1"/>
          <p:nvPr/>
        </p:nvSpPr>
        <p:spPr>
          <a:xfrm>
            <a:off x="3081528" y="6108192"/>
            <a:ext cx="777240" cy="210312"/>
          </a:xfrm>
          <a:prstGeom prst="rect">
            <a:avLst/>
          </a:prstGeom>
          <a:noFill/>
          <a:ln/>
        </p:spPr>
        <p:txBody>
          <a:bodyPr wrap="square" lIns="0" tIns="0" rIns="0" bIns="0" rtlCol="0" anchor="ctr"/>
          <a:lstStyle/>
          <a:p>
            <a:pPr indent="0" marL="0">
              <a:buNone/>
            </a:pPr>
            <a:r>
              <a:rPr lang="en-US" sz="1000" dirty="0">
                <a:solidFill>
                  <a:srgbClr val="5A6670"/>
                </a:solidFill>
                <a:latin typeface="Avenir Next LT Pro" pitchFamily="34" charset="0"/>
                <a:ea typeface="Avenir Next LT Pro" pitchFamily="34" charset="-122"/>
                <a:cs typeface="Avenir Next LT Pro" pitchFamily="34" charset="-120"/>
              </a:rPr>
              <a:t>None</a:t>
            </a:r>
            <a:endParaRPr lang="en-US" sz="1000" dirty="0"/>
          </a:p>
        </p:txBody>
      </p:sp>
      <p:sp>
        <p:nvSpPr>
          <p:cNvPr id="89" name="State of the art card"/>
          <p:cNvSpPr/>
          <p:nvPr/>
        </p:nvSpPr>
        <p:spPr>
          <a:xfrm>
            <a:off x="8503920" y="2057400"/>
            <a:ext cx="3017520" cy="3986784"/>
          </a:xfrm>
          <a:prstGeom prst="rect">
            <a:avLst/>
          </a:prstGeom>
          <a:solidFill>
            <a:srgbClr val="13294B"/>
          </a:solidFill>
          <a:ln w="12700">
            <a:solidFill>
              <a:srgbClr val="13294B"/>
            </a:solidFill>
            <a:prstDash val="solid"/>
          </a:ln>
        </p:spPr>
      </p:sp>
      <p:sp>
        <p:nvSpPr>
          <p:cNvPr id="90" name="Text 88"/>
          <p:cNvSpPr txBox="1"/>
          <p:nvPr/>
        </p:nvSpPr>
        <p:spPr>
          <a:xfrm>
            <a:off x="8778240" y="2286000"/>
            <a:ext cx="2468880" cy="228600"/>
          </a:xfrm>
          <a:prstGeom prst="rect">
            <a:avLst/>
          </a:prstGeom>
          <a:noFill/>
          <a:ln/>
        </p:spPr>
        <p:txBody>
          <a:bodyPr wrap="square" lIns="0" tIns="0" rIns="0" bIns="0" rtlCol="0" anchor="ctr"/>
          <a:lstStyle/>
          <a:p>
            <a:pPr indent="0" marL="0">
              <a:buNone/>
            </a:pPr>
            <a:r>
              <a:rPr lang="en-US" sz="1000" b="1" spc="200" kern="0" dirty="0">
                <a:solidFill>
                  <a:srgbClr val="7FE0DC"/>
                </a:solidFill>
                <a:latin typeface="Avenir Next LT Pro" pitchFamily="34" charset="0"/>
                <a:ea typeface="Avenir Next LT Pro" pitchFamily="34" charset="-122"/>
                <a:cs typeface="Avenir Next LT Pro" pitchFamily="34" charset="-120"/>
              </a:rPr>
              <a:t>STATE OF THE ART · 2026</a:t>
            </a:r>
            <a:endParaRPr lang="en-US" sz="1000" dirty="0"/>
          </a:p>
        </p:txBody>
      </p:sp>
      <p:sp>
        <p:nvSpPr>
          <p:cNvPr id="91" name="Text 89"/>
          <p:cNvSpPr txBox="1"/>
          <p:nvPr/>
        </p:nvSpPr>
        <p:spPr>
          <a:xfrm>
            <a:off x="8778240" y="2532888"/>
            <a:ext cx="2468880" cy="274320"/>
          </a:xfrm>
          <a:prstGeom prst="rect">
            <a:avLst/>
          </a:prstGeom>
          <a:noFill/>
          <a:ln/>
        </p:spPr>
        <p:txBody>
          <a:bodyPr wrap="square" lIns="0" tIns="0" rIns="0" bIns="0" rtlCol="0" anchor="ctr"/>
          <a:lstStyle/>
          <a:p>
            <a:pPr indent="0" marL="0">
              <a:buNone/>
            </a:pPr>
            <a:r>
              <a:rPr lang="en-US" sz="1300" dirty="0">
                <a:solidFill>
                  <a:srgbClr val="FFFFFF"/>
                </a:solidFill>
                <a:latin typeface="Avenir Next LT Pro" pitchFamily="34" charset="0"/>
                <a:ea typeface="Avenir Next LT Pro" pitchFamily="34" charset="-122"/>
                <a:cs typeface="Avenir Next LT Pro" pitchFamily="34" charset="-120"/>
              </a:rPr>
              <a:t>Best AI score on analyst work</a:t>
            </a:r>
            <a:endParaRPr lang="en-US" sz="1300" dirty="0"/>
          </a:p>
        </p:txBody>
      </p:sp>
      <p:sp>
        <p:nvSpPr>
          <p:cNvPr id="92" name="Text 90"/>
          <p:cNvSpPr txBox="1"/>
          <p:nvPr/>
        </p:nvSpPr>
        <p:spPr>
          <a:xfrm>
            <a:off x="8778240" y="2953512"/>
            <a:ext cx="1920240" cy="201168"/>
          </a:xfrm>
          <a:prstGeom prst="rect">
            <a:avLst/>
          </a:prstGeom>
          <a:noFill/>
          <a:ln/>
        </p:spPr>
        <p:txBody>
          <a:bodyPr wrap="square" lIns="0" tIns="0" rIns="0" bIns="0" rtlCol="0" anchor="ctr"/>
          <a:lstStyle/>
          <a:p>
            <a:pPr indent="0" marL="0">
              <a:buNone/>
            </a:pPr>
            <a:r>
              <a:rPr lang="en-US" sz="1000" dirty="0">
                <a:solidFill>
                  <a:srgbClr val="D5DCE6"/>
                </a:solidFill>
                <a:latin typeface="Avenir Next LT Pro" pitchFamily="34" charset="0"/>
                <a:ea typeface="Avenir Next LT Pro" pitchFamily="34" charset="-122"/>
                <a:cs typeface="Avenir Next LT Pro" pitchFamily="34" charset="-120"/>
              </a:rPr>
              <a:t>Vals Finance Agent v2</a:t>
            </a:r>
            <a:endParaRPr lang="en-US" sz="1000" dirty="0"/>
          </a:p>
        </p:txBody>
      </p:sp>
      <p:sp>
        <p:nvSpPr>
          <p:cNvPr id="93" name="Text 91"/>
          <p:cNvSpPr txBox="1"/>
          <p:nvPr/>
        </p:nvSpPr>
        <p:spPr>
          <a:xfrm>
            <a:off x="10698480" y="2935224"/>
            <a:ext cx="548640" cy="228600"/>
          </a:xfrm>
          <a:prstGeom prst="rect">
            <a:avLst/>
          </a:prstGeom>
          <a:noFill/>
          <a:ln/>
        </p:spPr>
        <p:txBody>
          <a:bodyPr wrap="square" lIns="0" tIns="0" rIns="0" bIns="0" rtlCol="0" anchor="ctr"/>
          <a:lstStyle/>
          <a:p>
            <a:pPr algn="r" indent="0" marL="0">
              <a:buNone/>
            </a:pPr>
            <a:r>
              <a:rPr lang="en-US" sz="1300" b="1" dirty="0">
                <a:solidFill>
                  <a:srgbClr val="7FE0DC"/>
                </a:solidFill>
                <a:latin typeface="Avenir Next LT Pro" pitchFamily="34" charset="0"/>
                <a:ea typeface="Avenir Next LT Pro" pitchFamily="34" charset="-122"/>
                <a:cs typeface="Avenir Next LT Pro" pitchFamily="34" charset="-120"/>
              </a:rPr>
              <a:t>61%</a:t>
            </a:r>
            <a:endParaRPr lang="en-US" sz="1300" dirty="0"/>
          </a:p>
        </p:txBody>
      </p:sp>
      <p:sp>
        <p:nvSpPr>
          <p:cNvPr id="94" name="Shape 92"/>
          <p:cNvSpPr/>
          <p:nvPr/>
        </p:nvSpPr>
        <p:spPr>
          <a:xfrm>
            <a:off x="8778240" y="3200400"/>
            <a:ext cx="2468880" cy="91440"/>
          </a:xfrm>
          <a:prstGeom prst="rect">
            <a:avLst/>
          </a:prstGeom>
          <a:solidFill>
            <a:srgbClr val="2C4570"/>
          </a:solidFill>
          <a:ln w="12700">
            <a:solidFill>
              <a:srgbClr val="2C4570"/>
            </a:solidFill>
            <a:prstDash val="solid"/>
          </a:ln>
        </p:spPr>
      </p:sp>
      <p:sp>
        <p:nvSpPr>
          <p:cNvPr id="95" name="Shape 93"/>
          <p:cNvSpPr/>
          <p:nvPr/>
        </p:nvSpPr>
        <p:spPr>
          <a:xfrm>
            <a:off x="8778240" y="3200400"/>
            <a:ext cx="1506017" cy="91440"/>
          </a:xfrm>
          <a:prstGeom prst="rect">
            <a:avLst/>
          </a:prstGeom>
          <a:solidFill>
            <a:srgbClr val="7FE0DC"/>
          </a:solidFill>
          <a:ln w="12700">
            <a:solidFill>
              <a:srgbClr val="7FE0DC"/>
            </a:solidFill>
            <a:prstDash val="solid"/>
          </a:ln>
        </p:spPr>
      </p:sp>
      <p:sp>
        <p:nvSpPr>
          <p:cNvPr id="96" name="Text 94"/>
          <p:cNvSpPr txBox="1"/>
          <p:nvPr/>
        </p:nvSpPr>
        <p:spPr>
          <a:xfrm>
            <a:off x="8778240" y="3456432"/>
            <a:ext cx="1920240" cy="201168"/>
          </a:xfrm>
          <a:prstGeom prst="rect">
            <a:avLst/>
          </a:prstGeom>
          <a:noFill/>
          <a:ln/>
        </p:spPr>
        <p:txBody>
          <a:bodyPr wrap="square" lIns="0" tIns="0" rIns="0" bIns="0" rtlCol="0" anchor="ctr"/>
          <a:lstStyle/>
          <a:p>
            <a:pPr indent="0" marL="0">
              <a:buNone/>
            </a:pPr>
            <a:r>
              <a:rPr lang="en-US" sz="1000" dirty="0">
                <a:solidFill>
                  <a:srgbClr val="D5DCE6"/>
                </a:solidFill>
                <a:latin typeface="Avenir Next LT Pro" pitchFamily="34" charset="0"/>
                <a:ea typeface="Avenir Next LT Pro" pitchFamily="34" charset="-122"/>
                <a:cs typeface="Avenir Next LT Pro" pitchFamily="34" charset="-120"/>
              </a:rPr>
              <a:t>FrontierFinance</a:t>
            </a:r>
            <a:endParaRPr lang="en-US" sz="1000" dirty="0"/>
          </a:p>
        </p:txBody>
      </p:sp>
      <p:sp>
        <p:nvSpPr>
          <p:cNvPr id="97" name="Text 95"/>
          <p:cNvSpPr txBox="1"/>
          <p:nvPr/>
        </p:nvSpPr>
        <p:spPr>
          <a:xfrm>
            <a:off x="10698480" y="3438144"/>
            <a:ext cx="548640" cy="228600"/>
          </a:xfrm>
          <a:prstGeom prst="rect">
            <a:avLst/>
          </a:prstGeom>
          <a:noFill/>
          <a:ln/>
        </p:spPr>
        <p:txBody>
          <a:bodyPr wrap="square" lIns="0" tIns="0" rIns="0" bIns="0" rtlCol="0" anchor="ctr"/>
          <a:lstStyle/>
          <a:p>
            <a:pPr algn="r" indent="0" marL="0">
              <a:buNone/>
            </a:pPr>
            <a:r>
              <a:rPr lang="en-US" sz="1300" b="1" dirty="0">
                <a:solidFill>
                  <a:srgbClr val="7FE0DC"/>
                </a:solidFill>
                <a:latin typeface="Avenir Next LT Pro" pitchFamily="34" charset="0"/>
                <a:ea typeface="Avenir Next LT Pro" pitchFamily="34" charset="-122"/>
                <a:cs typeface="Avenir Next LT Pro" pitchFamily="34" charset="-120"/>
              </a:rPr>
              <a:t>56%</a:t>
            </a:r>
            <a:endParaRPr lang="en-US" sz="1300" dirty="0"/>
          </a:p>
        </p:txBody>
      </p:sp>
      <p:sp>
        <p:nvSpPr>
          <p:cNvPr id="98" name="Shape 96"/>
          <p:cNvSpPr/>
          <p:nvPr/>
        </p:nvSpPr>
        <p:spPr>
          <a:xfrm>
            <a:off x="8778240" y="3703320"/>
            <a:ext cx="2468880" cy="91440"/>
          </a:xfrm>
          <a:prstGeom prst="rect">
            <a:avLst/>
          </a:prstGeom>
          <a:solidFill>
            <a:srgbClr val="2C4570"/>
          </a:solidFill>
          <a:ln w="12700">
            <a:solidFill>
              <a:srgbClr val="2C4570"/>
            </a:solidFill>
            <a:prstDash val="solid"/>
          </a:ln>
        </p:spPr>
      </p:sp>
      <p:sp>
        <p:nvSpPr>
          <p:cNvPr id="99" name="Shape 97"/>
          <p:cNvSpPr/>
          <p:nvPr/>
        </p:nvSpPr>
        <p:spPr>
          <a:xfrm>
            <a:off x="8778240" y="3703320"/>
            <a:ext cx="1382573" cy="91440"/>
          </a:xfrm>
          <a:prstGeom prst="rect">
            <a:avLst/>
          </a:prstGeom>
          <a:solidFill>
            <a:srgbClr val="7FE0DC"/>
          </a:solidFill>
          <a:ln w="12700">
            <a:solidFill>
              <a:srgbClr val="7FE0DC"/>
            </a:solidFill>
            <a:prstDash val="solid"/>
          </a:ln>
        </p:spPr>
      </p:sp>
      <p:sp>
        <p:nvSpPr>
          <p:cNvPr id="100" name="Text 98"/>
          <p:cNvSpPr txBox="1"/>
          <p:nvPr/>
        </p:nvSpPr>
        <p:spPr>
          <a:xfrm>
            <a:off x="8778240" y="3959352"/>
            <a:ext cx="1920240" cy="201168"/>
          </a:xfrm>
          <a:prstGeom prst="rect">
            <a:avLst/>
          </a:prstGeom>
          <a:noFill/>
          <a:ln/>
        </p:spPr>
        <p:txBody>
          <a:bodyPr wrap="square" lIns="0" tIns="0" rIns="0" bIns="0" rtlCol="0" anchor="ctr"/>
          <a:lstStyle/>
          <a:p>
            <a:pPr indent="0" marL="0">
              <a:buNone/>
            </a:pPr>
            <a:r>
              <a:rPr lang="en-US" sz="1000" dirty="0">
                <a:solidFill>
                  <a:srgbClr val="D5DCE6"/>
                </a:solidFill>
                <a:latin typeface="Avenir Next LT Pro" pitchFamily="34" charset="0"/>
                <a:ea typeface="Avenir Next LT Pro" pitchFamily="34" charset="-122"/>
                <a:cs typeface="Avenir Next LT Pro" pitchFamily="34" charset="-120"/>
              </a:rPr>
              <a:t>BigFinanceBench</a:t>
            </a:r>
            <a:endParaRPr lang="en-US" sz="1000" dirty="0"/>
          </a:p>
        </p:txBody>
      </p:sp>
      <p:sp>
        <p:nvSpPr>
          <p:cNvPr id="101" name="Text 99"/>
          <p:cNvSpPr txBox="1"/>
          <p:nvPr/>
        </p:nvSpPr>
        <p:spPr>
          <a:xfrm>
            <a:off x="10698480" y="3941064"/>
            <a:ext cx="548640" cy="228600"/>
          </a:xfrm>
          <a:prstGeom prst="rect">
            <a:avLst/>
          </a:prstGeom>
          <a:noFill/>
          <a:ln/>
        </p:spPr>
        <p:txBody>
          <a:bodyPr wrap="square" lIns="0" tIns="0" rIns="0" bIns="0" rtlCol="0" anchor="ctr"/>
          <a:lstStyle/>
          <a:p>
            <a:pPr algn="r" indent="0" marL="0">
              <a:buNone/>
            </a:pPr>
            <a:r>
              <a:rPr lang="en-US" sz="1300" b="1" dirty="0">
                <a:solidFill>
                  <a:srgbClr val="7FE0DC"/>
                </a:solidFill>
                <a:latin typeface="Avenir Next LT Pro" pitchFamily="34" charset="0"/>
                <a:ea typeface="Avenir Next LT Pro" pitchFamily="34" charset="-122"/>
                <a:cs typeface="Avenir Next LT Pro" pitchFamily="34" charset="-120"/>
              </a:rPr>
              <a:t>53%</a:t>
            </a:r>
            <a:endParaRPr lang="en-US" sz="1300" dirty="0"/>
          </a:p>
        </p:txBody>
      </p:sp>
      <p:sp>
        <p:nvSpPr>
          <p:cNvPr id="102" name="Shape 100"/>
          <p:cNvSpPr/>
          <p:nvPr/>
        </p:nvSpPr>
        <p:spPr>
          <a:xfrm>
            <a:off x="8778240" y="4206240"/>
            <a:ext cx="2468880" cy="91440"/>
          </a:xfrm>
          <a:prstGeom prst="rect">
            <a:avLst/>
          </a:prstGeom>
          <a:solidFill>
            <a:srgbClr val="2C4570"/>
          </a:solidFill>
          <a:ln w="12700">
            <a:solidFill>
              <a:srgbClr val="2C4570"/>
            </a:solidFill>
            <a:prstDash val="solid"/>
          </a:ln>
        </p:spPr>
      </p:sp>
      <p:sp>
        <p:nvSpPr>
          <p:cNvPr id="103" name="Shape 101"/>
          <p:cNvSpPr/>
          <p:nvPr/>
        </p:nvSpPr>
        <p:spPr>
          <a:xfrm>
            <a:off x="8778240" y="4206240"/>
            <a:ext cx="1308506" cy="91440"/>
          </a:xfrm>
          <a:prstGeom prst="rect">
            <a:avLst/>
          </a:prstGeom>
          <a:solidFill>
            <a:srgbClr val="7FE0DC"/>
          </a:solidFill>
          <a:ln w="12700">
            <a:solidFill>
              <a:srgbClr val="7FE0DC"/>
            </a:solidFill>
            <a:prstDash val="solid"/>
          </a:ln>
        </p:spPr>
      </p:sp>
      <p:sp>
        <p:nvSpPr>
          <p:cNvPr id="104" name="Text 102"/>
          <p:cNvSpPr txBox="1"/>
          <p:nvPr/>
        </p:nvSpPr>
        <p:spPr>
          <a:xfrm>
            <a:off x="8778240" y="4453128"/>
            <a:ext cx="2468880" cy="228600"/>
          </a:xfrm>
          <a:prstGeom prst="rect">
            <a:avLst/>
          </a:prstGeom>
          <a:noFill/>
          <a:ln/>
        </p:spPr>
        <p:txBody>
          <a:bodyPr wrap="square" lIns="0" tIns="0" rIns="0" bIns="0" rtlCol="0" anchor="ctr"/>
          <a:lstStyle/>
          <a:p>
            <a:pPr indent="0" marL="0">
              <a:buNone/>
            </a:pPr>
            <a:r>
              <a:rPr lang="en-US" sz="1000" i="1" dirty="0">
                <a:solidFill>
                  <a:srgbClr val="D5DCE6"/>
                </a:solidFill>
                <a:latin typeface="Avenir Next LT Pro" pitchFamily="34" charset="0"/>
                <a:ea typeface="Avenir Next LT Pro" pitchFamily="34" charset="-122"/>
                <a:cs typeface="Avenir Next LT Pro" pitchFamily="34" charset="-120"/>
              </a:rPr>
              <a:t>…and none of it is fund operations.</a:t>
            </a:r>
            <a:endParaRPr lang="en-US" sz="1000" dirty="0"/>
          </a:p>
        </p:txBody>
      </p:sp>
      <p:sp>
        <p:nvSpPr>
          <p:cNvPr id="105" name="Text 103"/>
          <p:cNvSpPr txBox="1"/>
          <p:nvPr/>
        </p:nvSpPr>
        <p:spPr>
          <a:xfrm>
            <a:off x="8778240" y="4754880"/>
            <a:ext cx="640080" cy="777240"/>
          </a:xfrm>
          <a:prstGeom prst="rect">
            <a:avLst/>
          </a:prstGeom>
          <a:noFill/>
          <a:ln/>
        </p:spPr>
        <p:txBody>
          <a:bodyPr wrap="square" lIns="0" tIns="0" rIns="0" bIns="0" rtlCol="0" anchor="ctr"/>
          <a:lstStyle/>
          <a:p>
            <a:pPr indent="0" marL="0">
              <a:buNone/>
            </a:pPr>
            <a:r>
              <a:rPr lang="en-US" sz="6000" b="1" dirty="0">
                <a:solidFill>
                  <a:srgbClr val="E8417D"/>
                </a:solidFill>
                <a:latin typeface="Avenir Next LT Pro" pitchFamily="34" charset="0"/>
                <a:ea typeface="Avenir Next LT Pro" pitchFamily="34" charset="-122"/>
                <a:cs typeface="Avenir Next LT Pro" pitchFamily="34" charset="-120"/>
              </a:rPr>
              <a:t>0</a:t>
            </a:r>
            <a:endParaRPr lang="en-US" sz="6000" dirty="0"/>
          </a:p>
        </p:txBody>
      </p:sp>
      <p:sp>
        <p:nvSpPr>
          <p:cNvPr id="106" name="Text 104"/>
          <p:cNvSpPr txBox="1"/>
          <p:nvPr/>
        </p:nvSpPr>
        <p:spPr>
          <a:xfrm>
            <a:off x="9464040" y="4800600"/>
            <a:ext cx="1783080" cy="713232"/>
          </a:xfrm>
          <a:prstGeom prst="rect">
            <a:avLst/>
          </a:prstGeom>
          <a:noFill/>
          <a:ln/>
        </p:spPr>
        <p:txBody>
          <a:bodyPr wrap="square" lIns="0" tIns="0" rIns="0" bIns="0" rtlCol="0" anchor="ctr"/>
          <a:lstStyle/>
          <a:p>
            <a:pPr indent="0" marL="0">
              <a:buNone/>
            </a:pPr>
            <a:r>
              <a:rPr lang="en-US" sz="1100" dirty="0">
                <a:solidFill>
                  <a:srgbClr val="FFFFFF"/>
                </a:solidFill>
                <a:latin typeface="Avenir Next LT Pro" pitchFamily="34" charset="0"/>
                <a:ea typeface="Avenir Next LT Pro" pitchFamily="34" charset="-122"/>
                <a:cs typeface="Avenir Next LT Pro" pitchFamily="34" charset="-120"/>
              </a:rPr>
              <a:t>public benchmarks test NAV, recon, corporate actions or break escalation</a:t>
            </a:r>
            <a:endParaRPr lang="en-US" sz="1100" dirty="0"/>
          </a:p>
        </p:txBody>
      </p:sp>
      <p:sp>
        <p:nvSpPr>
          <p:cNvPr id="107" name="Text 105"/>
          <p:cNvSpPr txBox="1"/>
          <p:nvPr/>
        </p:nvSpPr>
        <p:spPr>
          <a:xfrm>
            <a:off x="8778240" y="5641848"/>
            <a:ext cx="2468880" cy="274320"/>
          </a:xfrm>
          <a:prstGeom prst="rect">
            <a:avLst/>
          </a:prstGeom>
          <a:noFill/>
          <a:ln/>
        </p:spPr>
        <p:txBody>
          <a:bodyPr wrap="square" lIns="0" tIns="0" rIns="0" bIns="0" rtlCol="0" anchor="ctr"/>
          <a:lstStyle/>
          <a:p>
            <a:pPr indent="0" marL="0">
              <a:buNone/>
            </a:pPr>
            <a:r>
              <a:rPr lang="en-US" sz="1400" b="1" dirty="0">
                <a:solidFill>
                  <a:srgbClr val="7FE0DC"/>
                </a:solidFill>
                <a:latin typeface="Avenir Next LT Pro" pitchFamily="34" charset="0"/>
                <a:ea typeface="Avenir Next LT Pro" pitchFamily="34" charset="-122"/>
                <a:cs typeface="Avenir Next LT Pro" pitchFamily="34" charset="-120"/>
              </a:rPr>
              <a:t>SASOB is the first.</a:t>
            </a:r>
            <a:endParaRPr lang="en-US" sz="1400" dirty="0"/>
          </a:p>
        </p:txBody>
      </p:sp>
      <p:sp>
        <p:nvSpPr>
          <p:cNvPr id="108" name="Text 106"/>
          <p:cNvSpPr txBox="1"/>
          <p:nvPr/>
        </p:nvSpPr>
        <p:spPr>
          <a:xfrm>
            <a:off x="685800" y="6400800"/>
            <a:ext cx="10835640" cy="274320"/>
          </a:xfrm>
          <a:prstGeom prst="rect">
            <a:avLst/>
          </a:prstGeom>
          <a:noFill/>
          <a:ln/>
        </p:spPr>
        <p:txBody>
          <a:bodyPr wrap="square" lIns="0" tIns="0" rIns="0" bIns="0" rtlCol="0" anchor="ctr"/>
          <a:lstStyle/>
          <a:p>
            <a:pPr indent="0" marL="0">
              <a:buNone/>
            </a:pPr>
            <a:r>
              <a:rPr lang="en-US" sz="900" dirty="0">
                <a:solidFill>
                  <a:srgbClr val="8A949E"/>
                </a:solidFill>
                <a:latin typeface="Avenir Next LT Pro" pitchFamily="34" charset="0"/>
                <a:ea typeface="Avenir Next LT Pro" pitchFamily="34" charset="-122"/>
                <a:cs typeface="Avenir Next LT Pro" pitchFamily="34" charset="-120"/>
              </a:rPr>
              <a:t>Scores: Vals AI Finance Agent v2 leaderboard (Sep 2026); FrontierFinance, arXiv 2608.11683; Rogo BigFinanceBench, final-answer accuracy (Aug 2026). Coverage ratings: SASOB team assessment.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SASOB - Benchmark Landscape</dc:title>
  <dc:subject>PptxGenJS Presentation</dc:subject>
  <dc:creator>PptxGenJS</dc:creator>
  <cp:lastModifiedBy>PptxGenJS</cp:lastModifiedBy>
  <cp:revision>1</cp:revision>
  <dcterms:created xsi:type="dcterms:W3CDTF">2026-10-11T18:27:54Z</dcterms:created>
  <dcterms:modified xsi:type="dcterms:W3CDTF">2026-10-11T18:27:54Z</dcterms:modified>
</cp:coreProperties>
</file>